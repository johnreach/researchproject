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gif" ContentType="image/gif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79" r:id="rId5"/>
    <p:sldId id="280" r:id="rId6"/>
    <p:sldId id="281" r:id="rId7"/>
    <p:sldId id="283" r:id="rId8"/>
    <p:sldId id="260" r:id="rId9"/>
    <p:sldId id="282" r:id="rId10"/>
    <p:sldId id="261" r:id="rId11"/>
    <p:sldId id="284" r:id="rId12"/>
    <p:sldId id="285" r:id="rId13"/>
    <p:sldId id="286" r:id="rId14"/>
    <p:sldId id="292" r:id="rId15"/>
    <p:sldId id="293" r:id="rId16"/>
    <p:sldId id="294" r:id="rId17"/>
    <p:sldId id="295" r:id="rId18"/>
    <p:sldId id="266" r:id="rId19"/>
    <p:sldId id="267" r:id="rId20"/>
    <p:sldId id="268" r:id="rId21"/>
    <p:sldId id="269" r:id="rId22"/>
    <p:sldId id="291" r:id="rId23"/>
    <p:sldId id="287" r:id="rId24"/>
    <p:sldId id="290" r:id="rId25"/>
    <p:sldId id="296" r:id="rId26"/>
    <p:sldId id="297" r:id="rId27"/>
    <p:sldId id="298" r:id="rId28"/>
    <p:sldId id="274" r:id="rId29"/>
    <p:sldId id="299" r:id="rId30"/>
    <p:sldId id="275" r:id="rId31"/>
    <p:sldId id="276" r:id="rId32"/>
    <p:sldId id="277" r:id="rId33"/>
    <p:sldId id="278" r:id="rId34"/>
    <p:sldId id="272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8CFE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037" autoAdjust="0"/>
  </p:normalViewPr>
  <p:slideViewPr>
    <p:cSldViewPr>
      <p:cViewPr>
        <p:scale>
          <a:sx n="100" d="100"/>
          <a:sy n="100" d="100"/>
        </p:scale>
        <p:origin x="-1356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41D75-CFAD-4C8D-8928-C3C91F71A40A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2AC86-9DB7-4007-9941-D53F0EBA7E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2482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39849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I'm going to talk to with you about Java Generics.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any software engineering researcher, it is a dream to release a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feature that is used by real developers.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like most dreams, it begins with a simple idea: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did a simple idea, turn into a nightmare?  What lessons can we learn?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9105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4746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Casts: ugly and runtime</a:t>
            </a:r>
            <a:r>
              <a:rPr lang="en-US" baseline="0" dirty="0" smtClean="0"/>
              <a:t> exception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4746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4746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TODO:</a:t>
            </a:r>
            <a:r>
              <a:rPr lang="en-US" baseline="0" dirty="0" smtClean="0"/>
              <a:t> move “</a:t>
            </a:r>
            <a:r>
              <a:rPr lang="en-US" baseline="0" dirty="0" err="1" smtClean="0"/>
              <a:t>myList</a:t>
            </a:r>
            <a:r>
              <a:rPr lang="en-US" baseline="0" dirty="0" smtClean="0"/>
              <a:t>” </a:t>
            </a:r>
            <a:r>
              <a:rPr lang="en-US" baseline="0" dirty="0" err="1" smtClean="0"/>
              <a:t>decl</a:t>
            </a:r>
            <a:r>
              <a:rPr lang="en-US" baseline="0" dirty="0" smtClean="0"/>
              <a:t> so transition smoother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4746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</a:t>
            </a:r>
            <a:r>
              <a:rPr lang="en-US" baseline="0" dirty="0" smtClean="0"/>
              <a:t> what happened with generics? To find out why, let’s start at the </a:t>
            </a:r>
            <a:r>
              <a:rPr lang="en-US" baseline="0" dirty="0" err="1" smtClean="0"/>
              <a:t>beginnning</a:t>
            </a:r>
            <a:r>
              <a:rPr lang="en-US" baseline="0" dirty="0" smtClean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23468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 to investigate what happened to generics, let’s look at the claims and complaints made about generics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TODO </a:t>
            </a:r>
            <a:r>
              <a:rPr lang="en-US" baseline="0" dirty="0" smtClean="0"/>
              <a:t>mention why we think they’re true (repeatedly!)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929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Emphasize historical look</a:t>
            </a:r>
          </a:p>
          <a:p>
            <a:r>
              <a:rPr lang="en-US" dirty="0" smtClean="0"/>
              <a:t>Simplify</a:t>
            </a:r>
            <a:r>
              <a:rPr lang="en-US" baseline="0" dirty="0" smtClean="0"/>
              <a:t> process diagram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9796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Pack and unpack research 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08327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Zoom</a:t>
            </a:r>
            <a:r>
              <a:rPr lang="en-US" baseline="0" dirty="0" smtClean="0"/>
              <a:t> size of each person for contribution amount.</a:t>
            </a:r>
          </a:p>
          <a:p>
            <a:r>
              <a:rPr lang="en-US" baseline="0" dirty="0" smtClean="0"/>
              <a:t>Put research question on top</a:t>
            </a:r>
          </a:p>
          <a:p>
            <a:r>
              <a:rPr lang="en-US" baseline="0" dirty="0" smtClean="0"/>
              <a:t>For each question, remind what answer 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0436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Come back to symbols</a:t>
            </a:r>
          </a:p>
          <a:p>
            <a:r>
              <a:rPr lang="en-US" dirty="0" err="1" smtClean="0"/>
              <a:t>Rm</a:t>
            </a:r>
            <a:r>
              <a:rPr lang="en-US" dirty="0" smtClean="0"/>
              <a:t> shadows and outlines</a:t>
            </a:r>
          </a:p>
          <a:p>
            <a:r>
              <a:rPr lang="en-US" dirty="0" smtClean="0"/>
              <a:t>Recolor graph to match blue/orange</a:t>
            </a:r>
          </a:p>
          <a:p>
            <a:r>
              <a:rPr lang="en-US" dirty="0" smtClean="0"/>
              <a:t>show one</a:t>
            </a:r>
            <a:r>
              <a:rPr lang="en-US" baseline="0" dirty="0" smtClean="0"/>
              <a:t> project as an example. Show 2 colors of project, now let’s look at all projects</a:t>
            </a:r>
          </a:p>
          <a:p>
            <a:r>
              <a:rPr lang="en-US" baseline="0" dirty="0" smtClean="0"/>
              <a:t>Consider rotating 90 degrees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87912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developers stubbornly used “raw” types despite adoption by others in the same project, whereas, in many projects that did use generics, there was a single developer who </a:t>
            </a:r>
            <a:r>
              <a:rPr lang="en-US" b="1" dirty="0" smtClean="0"/>
              <a:t>“championed”</a:t>
            </a:r>
            <a:r>
              <a:rPr lang="en-US" dirty="0" smtClean="0"/>
              <a:t> the use of generics, by using generics </a:t>
            </a:r>
            <a:r>
              <a:rPr lang="en-US" i="1" dirty="0" smtClean="0"/>
              <a:t>much earlier and in larger amounts</a:t>
            </a:r>
            <a:r>
              <a:rPr lang="en-US" dirty="0" smtClean="0"/>
              <a:t> than other developers.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Casts reduced </a:t>
            </a:r>
            <a:r>
              <a:rPr lang="en-US" i="1" dirty="0" smtClean="0"/>
              <a:t>before</a:t>
            </a:r>
            <a:r>
              <a:rPr lang="en-US" dirty="0" smtClean="0"/>
              <a:t> developers start to introduce generics.</a:t>
            </a:r>
          </a:p>
          <a:p>
            <a:r>
              <a:rPr lang="en-US" dirty="0" smtClean="0"/>
              <a:t>Spearman rank correlation:</a:t>
            </a:r>
          </a:p>
          <a:p>
            <a:pPr lvl="1"/>
            <a:r>
              <a:rPr lang="en-US" dirty="0" smtClean="0"/>
              <a:t>Only </a:t>
            </a:r>
            <a:r>
              <a:rPr lang="en-US" b="1" dirty="0" smtClean="0"/>
              <a:t>squirrel-</a:t>
            </a:r>
            <a:r>
              <a:rPr lang="en-US" b="1" dirty="0" err="1" smtClean="0"/>
              <a:t>sql</a:t>
            </a:r>
            <a:r>
              <a:rPr lang="en-US" dirty="0" smtClean="0"/>
              <a:t> had a strong correlation</a:t>
            </a:r>
          </a:p>
          <a:p>
            <a:pPr lvl="1"/>
            <a:r>
              <a:rPr lang="en-US" dirty="0" smtClean="0"/>
              <a:t>6 with moderate correlation.</a:t>
            </a:r>
          </a:p>
          <a:p>
            <a:endParaRPr lang="en-US" dirty="0" smtClean="0"/>
          </a:p>
          <a:p>
            <a:r>
              <a:rPr lang="en-US" dirty="0" smtClean="0"/>
              <a:t>Gradual reveal, starting with one project, starting with 1 line</a:t>
            </a:r>
          </a:p>
          <a:p>
            <a:r>
              <a:rPr lang="en-US" dirty="0" smtClean="0"/>
              <a:t>Change colors to be consistent</a:t>
            </a:r>
          </a:p>
          <a:p>
            <a:r>
              <a:rPr lang="en-US" dirty="0" smtClean="0"/>
              <a:t>Mention normalization part</a:t>
            </a:r>
          </a:p>
          <a:p>
            <a:r>
              <a:rPr lang="en-US" dirty="0" smtClean="0"/>
              <a:t>Be sure to point out parts of graph that support what</a:t>
            </a:r>
            <a:r>
              <a:rPr lang="en-US" baseline="0" dirty="0" smtClean="0"/>
              <a:t> you say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Casts reduced </a:t>
            </a:r>
            <a:r>
              <a:rPr lang="en-US" i="1" dirty="0" smtClean="0"/>
              <a:t>before</a:t>
            </a:r>
            <a:r>
              <a:rPr lang="en-US" dirty="0" smtClean="0"/>
              <a:t> developers start to introduce generics.</a:t>
            </a:r>
          </a:p>
          <a:p>
            <a:r>
              <a:rPr lang="en-US" dirty="0" smtClean="0"/>
              <a:t>Spearman rank correlation:</a:t>
            </a:r>
          </a:p>
          <a:p>
            <a:pPr lvl="1"/>
            <a:r>
              <a:rPr lang="en-US" dirty="0" smtClean="0"/>
              <a:t>Only </a:t>
            </a:r>
            <a:r>
              <a:rPr lang="en-US" b="1" dirty="0" smtClean="0"/>
              <a:t>squirrel-</a:t>
            </a:r>
            <a:r>
              <a:rPr lang="en-US" b="1" dirty="0" err="1" smtClean="0"/>
              <a:t>sql</a:t>
            </a:r>
            <a:r>
              <a:rPr lang="en-US" dirty="0" smtClean="0"/>
              <a:t> had a strong correlation</a:t>
            </a:r>
          </a:p>
          <a:p>
            <a:pPr lvl="1"/>
            <a:r>
              <a:rPr lang="en-US" dirty="0" smtClean="0"/>
              <a:t>6 with moderate correlation.</a:t>
            </a:r>
          </a:p>
          <a:p>
            <a:endParaRPr lang="en-US" dirty="0" smtClean="0"/>
          </a:p>
          <a:p>
            <a:r>
              <a:rPr lang="en-US" dirty="0" smtClean="0"/>
              <a:t>Gradual reveal, starting with one project, starting with 1 line</a:t>
            </a:r>
          </a:p>
          <a:p>
            <a:r>
              <a:rPr lang="en-US" dirty="0" smtClean="0"/>
              <a:t>Change colors to be consistent</a:t>
            </a:r>
          </a:p>
          <a:p>
            <a:r>
              <a:rPr lang="en-US" dirty="0" smtClean="0"/>
              <a:t>Mention normalization part</a:t>
            </a:r>
          </a:p>
          <a:p>
            <a:r>
              <a:rPr lang="en-US" dirty="0" smtClean="0"/>
              <a:t>Be sure to point out parts of graph that support what</a:t>
            </a:r>
            <a:r>
              <a:rPr lang="en-US" baseline="0" dirty="0" smtClean="0"/>
              <a:t> you say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Casts reduced </a:t>
            </a:r>
            <a:r>
              <a:rPr lang="en-US" i="1" dirty="0" smtClean="0"/>
              <a:t>before</a:t>
            </a:r>
            <a:r>
              <a:rPr lang="en-US" dirty="0" smtClean="0"/>
              <a:t> developers start to introduce generics.</a:t>
            </a:r>
          </a:p>
          <a:p>
            <a:r>
              <a:rPr lang="en-US" dirty="0" smtClean="0"/>
              <a:t>Spearman rank correlation:</a:t>
            </a:r>
          </a:p>
          <a:p>
            <a:pPr lvl="1"/>
            <a:r>
              <a:rPr lang="en-US" dirty="0" smtClean="0"/>
              <a:t>Only </a:t>
            </a:r>
            <a:r>
              <a:rPr lang="en-US" b="1" dirty="0" smtClean="0"/>
              <a:t>squirrel-</a:t>
            </a:r>
            <a:r>
              <a:rPr lang="en-US" b="1" dirty="0" err="1" smtClean="0"/>
              <a:t>sql</a:t>
            </a:r>
            <a:r>
              <a:rPr lang="en-US" dirty="0" smtClean="0"/>
              <a:t> had a strong correlation</a:t>
            </a:r>
          </a:p>
          <a:p>
            <a:pPr lvl="1"/>
            <a:r>
              <a:rPr lang="en-US" dirty="0" smtClean="0"/>
              <a:t>6 with moderate correlation.</a:t>
            </a:r>
          </a:p>
          <a:p>
            <a:endParaRPr lang="en-US" dirty="0" smtClean="0"/>
          </a:p>
          <a:p>
            <a:r>
              <a:rPr lang="en-US" dirty="0" smtClean="0"/>
              <a:t>Gradual reveal, starting with one project, starting with 1 line</a:t>
            </a:r>
          </a:p>
          <a:p>
            <a:r>
              <a:rPr lang="en-US" dirty="0" smtClean="0"/>
              <a:t>Change colors to be consistent</a:t>
            </a:r>
          </a:p>
          <a:p>
            <a:r>
              <a:rPr lang="en-US" dirty="0" smtClean="0"/>
              <a:t>Mention normalization part</a:t>
            </a:r>
          </a:p>
          <a:p>
            <a:r>
              <a:rPr lang="en-US" dirty="0" smtClean="0"/>
              <a:t>Be sure to point out parts of graph that support what</a:t>
            </a:r>
            <a:r>
              <a:rPr lang="en-US" baseline="0" dirty="0" smtClean="0"/>
              <a:t> you say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2AC86-9DB7-4007-9941-D53F0EBA7E42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Premature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generification</a:t>
            </a:r>
            <a:r>
              <a:rPr lang="en-US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6869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Clean up, make as conclusion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7047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Clean up, make as conclusion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70478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Is it consistent,</a:t>
            </a:r>
            <a:r>
              <a:rPr lang="en-US" baseline="0" dirty="0" smtClean="0"/>
              <a:t> is there a law?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48169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729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066F-2589-4372-BB13-2AF552B2328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7634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err="1" smtClean="0"/>
              <a:t>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8FBB6-EEC8-43CB-B501-A7F7356E9885}" type="slidenum">
              <a:rPr lang="en-US" smtClean="0"/>
              <a:pPr/>
              <a:t>‹#›</a:t>
            </a:fld>
            <a:fld id="{4D053CA7-FA5D-48B7-B05F-B1E75606D6B0}" type="slidenum">
              <a:rPr lang="en-US" smtClean="0"/>
              <a:pPr/>
              <a:t>‹#›</a:t>
            </a:fld>
            <a:fld id="{6D1E8CC2-D283-49B8-B9F3-3A91BD9E217E}" type="slidenum">
              <a:rPr lang="en-US" smtClean="0"/>
              <a:pPr/>
              <a:t>‹#›</a:t>
            </a:fld>
            <a:fld id="{2A5EB035-5C19-4405-A9EA-2085FDECA83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3.emf"/><Relationship Id="rId7" Type="http://schemas.openxmlformats.org/officeDocument/2006/relationships/image" Target="../media/image2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3.emf"/><Relationship Id="rId7" Type="http://schemas.openxmlformats.org/officeDocument/2006/relationships/image" Target="../media/image2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8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gif"/><Relationship Id="rId4" Type="http://schemas.openxmlformats.org/officeDocument/2006/relationships/image" Target="../media/image29.png"/><Relationship Id="rId9" Type="http://schemas.openxmlformats.org/officeDocument/2006/relationships/image" Target="../media/image34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186" y="5334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6000" dirty="0" smtClean="0"/>
              <a:t>Java Generics Adoption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How New Features are Introduced, Championed, or Ignored</a:t>
            </a:r>
          </a:p>
        </p:txBody>
      </p:sp>
      <p:sp>
        <p:nvSpPr>
          <p:cNvPr id="11" name="Rectangle 10"/>
          <p:cNvSpPr>
            <a:spLocks noGrp="1" noChangeArrowheads="1"/>
          </p:cNvSpPr>
          <p:nvPr/>
        </p:nvSpPr>
        <p:spPr bwMode="auto">
          <a:xfrm>
            <a:off x="3429000" y="2635694"/>
            <a:ext cx="3200400" cy="3185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2000" dirty="0" smtClean="0">
                <a:latin typeface="Cambria" pitchFamily="18" charset="0"/>
              </a:rPr>
              <a:t>Chris </a:t>
            </a:r>
            <a:r>
              <a:rPr lang="en-US" sz="2000" dirty="0" err="1" smtClean="0">
                <a:latin typeface="Cambria" pitchFamily="18" charset="0"/>
              </a:rPr>
              <a:t>Parnin</a:t>
            </a:r>
            <a:endParaRPr lang="en-US" sz="2000" dirty="0" smtClean="0">
              <a:latin typeface="Cambria" pitchFamily="18" charset="0"/>
            </a:endParaRPr>
          </a:p>
          <a:p>
            <a:pPr algn="r">
              <a:spcBef>
                <a:spcPts val="0"/>
              </a:spcBef>
            </a:pPr>
            <a:r>
              <a:rPr lang="en-US" sz="2000" dirty="0" smtClean="0">
                <a:latin typeface="Cambria" pitchFamily="18" charset="0"/>
              </a:rPr>
              <a:t>    Georgia Tech</a:t>
            </a:r>
          </a:p>
          <a:p>
            <a:pPr algn="r">
              <a:spcBef>
                <a:spcPts val="0"/>
              </a:spcBef>
            </a:pPr>
            <a:endParaRPr lang="en-US" sz="2000" dirty="0" smtClean="0">
              <a:latin typeface="Cambria" pitchFamily="18" charset="0"/>
            </a:endParaRPr>
          </a:p>
          <a:p>
            <a:pPr algn="r">
              <a:spcBef>
                <a:spcPts val="0"/>
              </a:spcBef>
            </a:pPr>
            <a:endParaRPr lang="en-US" sz="2000" dirty="0" smtClean="0">
              <a:latin typeface="Cambria" pitchFamily="18" charset="0"/>
            </a:endParaRPr>
          </a:p>
          <a:p>
            <a:pPr algn="r">
              <a:spcBef>
                <a:spcPts val="0"/>
              </a:spcBef>
            </a:pPr>
            <a:r>
              <a:rPr lang="en-US" sz="2000" dirty="0" smtClean="0">
                <a:latin typeface="Cambria" pitchFamily="18" charset="0"/>
              </a:rPr>
              <a:t>Christian Bird</a:t>
            </a:r>
          </a:p>
          <a:p>
            <a:pPr algn="r">
              <a:spcBef>
                <a:spcPts val="0"/>
              </a:spcBef>
            </a:pPr>
            <a:r>
              <a:rPr lang="en-US" sz="2000" dirty="0" smtClean="0">
                <a:latin typeface="Cambria" pitchFamily="18" charset="0"/>
              </a:rPr>
              <a:t>Microsoft Research</a:t>
            </a:r>
          </a:p>
          <a:p>
            <a:pPr algn="r">
              <a:spcBef>
                <a:spcPts val="0"/>
              </a:spcBef>
            </a:pPr>
            <a:endParaRPr lang="en-US" sz="2000" dirty="0" smtClean="0">
              <a:latin typeface="Cambria" pitchFamily="18" charset="0"/>
            </a:endParaRPr>
          </a:p>
          <a:p>
            <a:pPr algn="r">
              <a:spcBef>
                <a:spcPts val="0"/>
              </a:spcBef>
            </a:pPr>
            <a:endParaRPr lang="en-US" sz="2000" dirty="0">
              <a:latin typeface="Cambria" pitchFamily="18" charset="0"/>
            </a:endParaRPr>
          </a:p>
          <a:p>
            <a:pPr algn="r">
              <a:spcBef>
                <a:spcPts val="0"/>
              </a:spcBef>
            </a:pPr>
            <a:r>
              <a:rPr lang="en-US" sz="2000" dirty="0" smtClean="0">
                <a:latin typeface="Cambria" pitchFamily="18" charset="0"/>
              </a:rPr>
              <a:t>Emerson Murphy-Hill</a:t>
            </a:r>
          </a:p>
          <a:p>
            <a:pPr algn="r">
              <a:spcBef>
                <a:spcPts val="0"/>
              </a:spcBef>
            </a:pPr>
            <a:r>
              <a:rPr lang="en-US" sz="2000" dirty="0" smtClean="0">
                <a:latin typeface="Cambria" pitchFamily="18" charset="0"/>
              </a:rPr>
              <a:t>North Carolina State</a:t>
            </a:r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84198" y="4990274"/>
            <a:ext cx="986388" cy="1226820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rnd" cmpd="thickThin">
            <a:solidFill>
              <a:schemeClr val="tx1">
                <a:lumMod val="50000"/>
              </a:schemeClr>
            </a:solidFill>
            <a:rou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84198" y="2286000"/>
            <a:ext cx="988416" cy="1193702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rnd" cmpd="thickThin">
            <a:solidFill>
              <a:schemeClr val="tx1">
                <a:lumMod val="50000"/>
              </a:schemeClr>
            </a:solidFill>
            <a:rou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84198" y="3625607"/>
            <a:ext cx="988416" cy="1260735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rnd" cmpd="thickThin">
            <a:solidFill>
              <a:schemeClr val="tx1">
                <a:lumMod val="50000"/>
              </a:schemeClr>
            </a:solidFill>
            <a:rou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101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Generics – A simple feature?</a:t>
            </a:r>
            <a:endParaRPr lang="en-US" dirty="0"/>
          </a:p>
        </p:txBody>
      </p:sp>
      <p:pic>
        <p:nvPicPr>
          <p:cNvPr id="14338" name="Picture 2" descr="http://www.coderfriendly.com/wp-content/uploads/2009/05/cup_generics-300x3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38400"/>
            <a:ext cx="2857500" cy="2857500"/>
          </a:xfrm>
          <a:prstGeom prst="rect">
            <a:avLst/>
          </a:prstGeom>
          <a:noFill/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1524000"/>
            <a:ext cx="287655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0" y="3981450"/>
            <a:ext cx="287655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5825912" y="3352800"/>
            <a:ext cx="295997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Clearly labeled</a:t>
            </a:r>
            <a:endParaRPr lang="en-US" dirty="0" smtClean="0"/>
          </a:p>
          <a:p>
            <a:r>
              <a:rPr lang="en-US" sz="2800" dirty="0" smtClean="0"/>
              <a:t>Less duplication</a:t>
            </a:r>
          </a:p>
          <a:p>
            <a:r>
              <a:rPr lang="en-US" sz="2800" dirty="0" smtClean="0"/>
              <a:t>Generic operations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3602451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primer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class Pair&lt;S,T&gt; {</a:t>
            </a:r>
          </a:p>
          <a:p>
            <a:pPr marL="457200" lvl="1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T first, last;</a:t>
            </a:r>
          </a:p>
          <a:p>
            <a:pPr marL="457200" lvl="1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T Last() { return last;}</a:t>
            </a:r>
          </a:p>
          <a:p>
            <a:pPr marL="457200" lvl="1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…</a:t>
            </a:r>
          </a:p>
          <a:p>
            <a:pPr marL="400050" lvl="1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static void main(String[]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args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) {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List&lt;Pair&lt;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String,String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 couples = </a:t>
            </a:r>
          </a:p>
          <a:p>
            <a:pPr marL="0" indent="0">
              <a:buNone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          new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ArrayList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&lt;Pair&lt;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String,String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&gt;&gt;();</a:t>
            </a: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	 </a:t>
            </a:r>
          </a:p>
          <a:p>
            <a:pPr marL="0" indent="0">
              <a:buNone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couples.add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(“William”, “Kate”);</a:t>
            </a: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2000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couples.add</a:t>
            </a:r>
            <a:r>
              <a:rPr lang="en-US" sz="20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(“Bob”, new Robot());</a:t>
            </a: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  }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4134376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</a:t>
            </a:r>
            <a:r>
              <a:rPr lang="en-US" dirty="0" smtClean="0"/>
              <a:t>refresher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List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myList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= …;</a:t>
            </a: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String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aStringFromMyList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= (String)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myList.get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(0);</a:t>
            </a:r>
          </a:p>
          <a:p>
            <a:pPr marL="0" indent="0">
              <a:buNone/>
            </a:pP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3086100" lvl="7" indent="0"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List{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3086100" lvl="7" indent="0"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Object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get(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i){…}</a:t>
            </a:r>
          </a:p>
          <a:p>
            <a:pPr marL="3086100" lvl="7" indent="0"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ight Arrow 5"/>
          <p:cNvSpPr/>
          <p:nvPr/>
        </p:nvSpPr>
        <p:spPr>
          <a:xfrm rot="14052434">
            <a:off x="4762426" y="3329825"/>
            <a:ext cx="1130808" cy="48463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399" y="4114801"/>
            <a:ext cx="17588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accent2"/>
                </a:solidFill>
                <a:latin typeface="Arial Black" pitchFamily="34" charset="0"/>
              </a:rPr>
              <a:t>Cast </a:t>
            </a:r>
            <a:r>
              <a:rPr lang="en-US" sz="2800" dirty="0">
                <a:solidFill>
                  <a:schemeClr val="accent2"/>
                </a:solidFill>
                <a:latin typeface="Kartika" pitchFamily="18" charset="0"/>
                <a:cs typeface="Kartika" pitchFamily="18" charset="0"/>
              </a:rPr>
              <a:t>(C)</a:t>
            </a:r>
          </a:p>
        </p:txBody>
      </p:sp>
      <p:sp>
        <p:nvSpPr>
          <p:cNvPr id="8" name="Right Arrow 7"/>
          <p:cNvSpPr/>
          <p:nvPr/>
        </p:nvSpPr>
        <p:spPr>
          <a:xfrm rot="9013565">
            <a:off x="1034002" y="1865342"/>
            <a:ext cx="1165487" cy="48463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86000" y="1534180"/>
            <a:ext cx="2510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accent6"/>
                </a:solidFill>
                <a:latin typeface="Arial Black" pitchFamily="34" charset="0"/>
              </a:rPr>
              <a:t>Raw Type </a:t>
            </a:r>
            <a:r>
              <a:rPr lang="en-US" sz="2800" dirty="0" smtClean="0">
                <a:solidFill>
                  <a:schemeClr val="accent6"/>
                </a:solidFill>
                <a:latin typeface="Kartika" pitchFamily="18" charset="0"/>
                <a:cs typeface="Kartika" pitchFamily="18" charset="0"/>
              </a:rPr>
              <a:t>R</a:t>
            </a:r>
            <a:endParaRPr lang="en-US" dirty="0">
              <a:solidFill>
                <a:schemeClr val="accent6"/>
              </a:solidFill>
              <a:latin typeface="Kartika" pitchFamily="18" charset="0"/>
              <a:cs typeface="Kartik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495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</a:t>
            </a:r>
            <a:r>
              <a:rPr lang="en-US" dirty="0" smtClean="0"/>
              <a:t>refresher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List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myList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= …;</a:t>
            </a: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String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aStringFromMyList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= (String)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myList.get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(0);</a:t>
            </a:r>
          </a:p>
          <a:p>
            <a:pPr marL="0" indent="0">
              <a:buNone/>
            </a:pP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class List&lt;T&gt;{</a:t>
            </a: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T get(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int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i){…}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}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ight Arrow 5"/>
          <p:cNvSpPr/>
          <p:nvPr/>
        </p:nvSpPr>
        <p:spPr>
          <a:xfrm rot="14052434">
            <a:off x="1720596" y="4853824"/>
            <a:ext cx="11308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444569" y="5638800"/>
            <a:ext cx="36442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Arial Black" pitchFamily="34" charset="0"/>
              </a:rPr>
              <a:t>Generic Type </a:t>
            </a:r>
            <a:r>
              <a:rPr lang="en-US" sz="2800" dirty="0">
                <a:solidFill>
                  <a:schemeClr val="accent1"/>
                </a:solidFill>
                <a:latin typeface="Kartika" pitchFamily="18" charset="0"/>
                <a:cs typeface="Kartika" pitchFamily="18" charset="0"/>
              </a:rPr>
              <a:t>&lt;T&gt;</a:t>
            </a:r>
          </a:p>
        </p:txBody>
      </p:sp>
    </p:spTree>
    <p:extLst>
      <p:ext uri="{BB962C8B-B14F-4D97-AF65-F5344CB8AC3E}">
        <p14:creationId xmlns:p14="http://schemas.microsoft.com/office/powerpoint/2010/main" xmlns="" val="211716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</a:t>
            </a:r>
            <a:r>
              <a:rPr lang="en-US" dirty="0" smtClean="0"/>
              <a:t>refresher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List&lt;String&gt;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myList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= …;</a:t>
            </a: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String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aStringFromMyList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=        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myList.get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(0);</a:t>
            </a:r>
          </a:p>
          <a:p>
            <a:pPr marL="0" indent="0">
              <a:buNone/>
            </a:pP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class List&lt;T&gt;{</a:t>
            </a: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T get(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int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i){…}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sz="2000" dirty="0" smtClean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static &lt;T&gt; T head(List&lt;T&gt; l){</a:t>
            </a: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	return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l.get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(0);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};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ight Arrow 5"/>
          <p:cNvSpPr/>
          <p:nvPr/>
        </p:nvSpPr>
        <p:spPr>
          <a:xfrm rot="9323632">
            <a:off x="1562840" y="1892750"/>
            <a:ext cx="1130808" cy="4846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78462" y="1447800"/>
            <a:ext cx="49551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accent5"/>
                </a:solidFill>
                <a:latin typeface="Arial Black" pitchFamily="34" charset="0"/>
              </a:rPr>
              <a:t>Parameterized Type </a:t>
            </a:r>
            <a:r>
              <a:rPr lang="en-US" sz="2800" dirty="0">
                <a:solidFill>
                  <a:schemeClr val="accent5"/>
                </a:solidFill>
                <a:latin typeface="Kartika" pitchFamily="18" charset="0"/>
                <a:cs typeface="Kartika" pitchFamily="18" charset="0"/>
              </a:rPr>
              <a:t>&lt;P&gt;</a:t>
            </a:r>
          </a:p>
        </p:txBody>
      </p:sp>
      <p:sp>
        <p:nvSpPr>
          <p:cNvPr id="8" name="Right Arrow 7"/>
          <p:cNvSpPr/>
          <p:nvPr/>
        </p:nvSpPr>
        <p:spPr>
          <a:xfrm rot="9323632">
            <a:off x="2945152" y="4709217"/>
            <a:ext cx="1130808" cy="4846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60774" y="4264267"/>
            <a:ext cx="42242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Arial Black" pitchFamily="34" charset="0"/>
              </a:rPr>
              <a:t>Generic Method </a:t>
            </a:r>
            <a:r>
              <a:rPr lang="en-US" sz="2800" dirty="0">
                <a:latin typeface="Kartika" pitchFamily="18" charset="0"/>
                <a:cs typeface="Kartika" pitchFamily="18" charset="0"/>
              </a:rPr>
              <a:t>&lt;M&gt;</a:t>
            </a:r>
          </a:p>
        </p:txBody>
      </p:sp>
    </p:spTree>
    <p:extLst>
      <p:ext uri="{BB962C8B-B14F-4D97-AF65-F5344CB8AC3E}">
        <p14:creationId xmlns:p14="http://schemas.microsoft.com/office/powerpoint/2010/main" xmlns="" val="16928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but life is not so simple…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847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637937"/>
            <a:ext cx="8112798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public interface Identifiable&lt;</a:t>
            </a:r>
            <a:r>
              <a:rPr lang="en-US" sz="2000" b="1" dirty="0" smtClean="0"/>
              <a:t>T extends Identifier&lt;? extends What&gt;, What&gt; </a:t>
            </a:r>
            <a:r>
              <a:rPr lang="en-US" sz="2000" dirty="0" smtClean="0"/>
              <a:t>{</a:t>
            </a:r>
          </a:p>
          <a:p>
            <a:r>
              <a:rPr lang="en-US" sz="2000" dirty="0" smtClean="0"/>
              <a:t>    public </a:t>
            </a:r>
            <a:r>
              <a:rPr lang="en-US" sz="2000" b="1" dirty="0" smtClean="0"/>
              <a:t>T</a:t>
            </a:r>
            <a:r>
              <a:rPr lang="en-US" sz="2000" dirty="0" smtClean="0"/>
              <a:t> </a:t>
            </a:r>
            <a:r>
              <a:rPr lang="en-US" sz="2000" dirty="0" err="1" smtClean="0"/>
              <a:t>getObjectID</a:t>
            </a:r>
            <a:r>
              <a:rPr lang="en-US" sz="2000" dirty="0" smtClean="0"/>
              <a:t>();</a:t>
            </a:r>
          </a:p>
          <a:p>
            <a:r>
              <a:rPr lang="en-US" sz="2000" dirty="0" smtClean="0"/>
              <a:t>    public Class</a:t>
            </a:r>
            <a:r>
              <a:rPr lang="en-US" sz="2000" b="1" dirty="0" smtClean="0"/>
              <a:t>&lt;? super What&gt; </a:t>
            </a:r>
            <a:r>
              <a:rPr lang="en-US" sz="2000" dirty="0" smtClean="0"/>
              <a:t>type();</a:t>
            </a:r>
          </a:p>
          <a:p>
            <a:r>
              <a:rPr lang="en-US" sz="2000" dirty="0" smtClean="0"/>
              <a:t>}</a:t>
            </a:r>
          </a:p>
          <a:p>
            <a:r>
              <a:rPr lang="en-US" sz="2000" dirty="0" smtClean="0"/>
              <a:t>public interface Identifier</a:t>
            </a:r>
            <a:r>
              <a:rPr lang="en-US" sz="2000" b="1" dirty="0" smtClean="0"/>
              <a:t>&lt;T&gt;</a:t>
            </a:r>
            <a:r>
              <a:rPr lang="en-US" sz="2000" dirty="0" smtClean="0"/>
              <a:t> {</a:t>
            </a:r>
          </a:p>
          <a:p>
            <a:r>
              <a:rPr lang="en-US" sz="2000" dirty="0" smtClean="0"/>
              <a:t>    public long </a:t>
            </a:r>
            <a:r>
              <a:rPr lang="en-US" sz="2000" dirty="0" err="1" smtClean="0"/>
              <a:t>getID</a:t>
            </a:r>
            <a:r>
              <a:rPr lang="en-US" sz="2000" dirty="0" smtClean="0"/>
              <a:t>();</a:t>
            </a:r>
          </a:p>
          <a:p>
            <a:r>
              <a:rPr lang="en-US" sz="2000" dirty="0" smtClean="0"/>
              <a:t>    public Class</a:t>
            </a:r>
            <a:r>
              <a:rPr lang="en-US" sz="2000" b="1" dirty="0" smtClean="0"/>
              <a:t>&lt;? super T&gt; </a:t>
            </a:r>
            <a:r>
              <a:rPr lang="en-US" sz="2000" dirty="0" smtClean="0"/>
              <a:t>type();</a:t>
            </a:r>
          </a:p>
          <a:p>
            <a:r>
              <a:rPr lang="en-US" sz="2000" dirty="0" smtClean="0"/>
              <a:t>}</a:t>
            </a:r>
          </a:p>
          <a:p>
            <a:r>
              <a:rPr lang="en-US" sz="2000" dirty="0" smtClean="0"/>
              <a:t>interface X </a:t>
            </a:r>
            <a:r>
              <a:rPr lang="en-US" sz="2000" b="1" dirty="0" smtClean="0"/>
              <a:t>&lt;</a:t>
            </a:r>
            <a:r>
              <a:rPr lang="en-US" sz="2000" b="1" dirty="0" err="1" smtClean="0"/>
              <a:t>SubjectType</a:t>
            </a:r>
            <a:r>
              <a:rPr lang="en-US" sz="2000" b="1" dirty="0" smtClean="0"/>
              <a:t> extends Identifiable, </a:t>
            </a:r>
            <a:r>
              <a:rPr lang="en-US" sz="2000" b="1" dirty="0" err="1" smtClean="0"/>
              <a:t>RelationshipType</a:t>
            </a:r>
            <a:r>
              <a:rPr lang="en-US" sz="2000" b="1" dirty="0" smtClean="0"/>
              <a:t> extends</a:t>
            </a:r>
          </a:p>
          <a:p>
            <a:r>
              <a:rPr lang="en-US" sz="2000" b="1" dirty="0" smtClean="0"/>
              <a:t>    </a:t>
            </a:r>
            <a:r>
              <a:rPr lang="en-US" sz="2000" b="1" dirty="0" err="1" smtClean="0"/>
              <a:t>Enum</a:t>
            </a:r>
            <a:r>
              <a:rPr lang="en-US" sz="2000" b="1" dirty="0" smtClean="0"/>
              <a:t>&lt;</a:t>
            </a:r>
            <a:r>
              <a:rPr lang="en-US" sz="2000" b="1" dirty="0" err="1" smtClean="0"/>
              <a:t>RelationshipType</a:t>
            </a:r>
            <a:r>
              <a:rPr lang="en-US" sz="2000" b="1" dirty="0" smtClean="0"/>
              <a:t>&gt; &amp; Related, </a:t>
            </a:r>
            <a:r>
              <a:rPr lang="en-US" sz="2000" b="1" dirty="0" err="1" smtClean="0"/>
              <a:t>ObjectType</a:t>
            </a:r>
            <a:r>
              <a:rPr lang="en-US" sz="2000" b="1" dirty="0" smtClean="0"/>
              <a:t> extends Identifiable&gt;</a:t>
            </a:r>
            <a:r>
              <a:rPr lang="en-US" sz="2000" dirty="0" smtClean="0"/>
              <a:t>{}</a:t>
            </a:r>
          </a:p>
          <a:p>
            <a:r>
              <a:rPr lang="en-US" sz="2000" dirty="0" smtClean="0"/>
              <a:t> </a:t>
            </a:r>
          </a:p>
          <a:p>
            <a:r>
              <a:rPr lang="en-US" sz="2000" dirty="0" smtClean="0"/>
              <a:t>static class A</a:t>
            </a:r>
            <a:r>
              <a:rPr lang="en-US" sz="2000" b="1" dirty="0" smtClean="0"/>
              <a:t>&lt;</a:t>
            </a:r>
          </a:p>
          <a:p>
            <a:r>
              <a:rPr lang="en-US" sz="2000" b="1" dirty="0" smtClean="0"/>
              <a:t>    SI extends Identifier&lt;? extends </a:t>
            </a:r>
            <a:r>
              <a:rPr lang="en-US" sz="2000" b="1" dirty="0" err="1" smtClean="0"/>
              <a:t>SubjectType</a:t>
            </a:r>
            <a:r>
              <a:rPr lang="en-US" sz="2000" b="1" dirty="0" smtClean="0"/>
              <a:t>&gt;,</a:t>
            </a:r>
          </a:p>
          <a:p>
            <a:r>
              <a:rPr lang="en-US" sz="2000" b="1" dirty="0" smtClean="0"/>
              <a:t>    OI extends Identifier&lt;? extends </a:t>
            </a:r>
            <a:r>
              <a:rPr lang="en-US" sz="2000" b="1" dirty="0" err="1" smtClean="0"/>
              <a:t>ObjectType</a:t>
            </a:r>
            <a:r>
              <a:rPr lang="en-US" sz="2000" b="1" dirty="0" smtClean="0"/>
              <a:t>&gt;,</a:t>
            </a:r>
          </a:p>
          <a:p>
            <a:r>
              <a:rPr lang="en-US" sz="2000" b="1" dirty="0" smtClean="0"/>
              <a:t>    </a:t>
            </a:r>
            <a:r>
              <a:rPr lang="en-US" sz="2000" b="1" dirty="0" err="1" smtClean="0"/>
              <a:t>SubjectType</a:t>
            </a:r>
            <a:r>
              <a:rPr lang="en-US" sz="2000" b="1" dirty="0" smtClean="0"/>
              <a:t> extends Identifiable&lt;SI, </a:t>
            </a:r>
            <a:r>
              <a:rPr lang="en-US" sz="2000" b="1" dirty="0" err="1" smtClean="0"/>
              <a:t>SubjectType</a:t>
            </a:r>
            <a:r>
              <a:rPr lang="en-US" sz="2000" b="1" dirty="0" smtClean="0"/>
              <a:t>&gt;,</a:t>
            </a:r>
          </a:p>
          <a:p>
            <a:r>
              <a:rPr lang="en-US" sz="2000" b="1" dirty="0" smtClean="0"/>
              <a:t>    </a:t>
            </a:r>
            <a:r>
              <a:rPr lang="en-US" sz="2000" b="1" dirty="0" err="1" smtClean="0"/>
              <a:t>RelationshipType</a:t>
            </a:r>
            <a:r>
              <a:rPr lang="en-US" sz="2000" b="1" dirty="0" smtClean="0"/>
              <a:t> extends </a:t>
            </a:r>
            <a:r>
              <a:rPr lang="en-US" sz="2000" b="1" dirty="0" err="1" smtClean="0"/>
              <a:t>Enum</a:t>
            </a:r>
            <a:r>
              <a:rPr lang="en-US" sz="2000" b="1" dirty="0" smtClean="0"/>
              <a:t>&lt;</a:t>
            </a:r>
            <a:r>
              <a:rPr lang="en-US" sz="2000" b="1" dirty="0" err="1" smtClean="0"/>
              <a:t>RelationshipType</a:t>
            </a:r>
            <a:r>
              <a:rPr lang="en-US" sz="2000" b="1" dirty="0" smtClean="0"/>
              <a:t>&gt; &amp; Related,</a:t>
            </a:r>
          </a:p>
          <a:p>
            <a:r>
              <a:rPr lang="en-US" sz="2000" b="1" dirty="0" smtClean="0"/>
              <a:t>    </a:t>
            </a:r>
            <a:r>
              <a:rPr lang="en-US" sz="2000" b="1" dirty="0" err="1" smtClean="0"/>
              <a:t>ObjectType</a:t>
            </a:r>
            <a:r>
              <a:rPr lang="en-US" sz="2000" b="1" dirty="0" smtClean="0"/>
              <a:t> extends Identifiable&lt;? extends OI, ? extends </a:t>
            </a:r>
            <a:r>
              <a:rPr lang="en-US" sz="2000" b="1" dirty="0" err="1" smtClean="0"/>
              <a:t>ObjectType</a:t>
            </a:r>
            <a:r>
              <a:rPr lang="en-US" sz="2000" b="1" dirty="0" smtClean="0"/>
              <a:t>&gt;&gt;</a:t>
            </a:r>
          </a:p>
          <a:p>
            <a:r>
              <a:rPr lang="en-US" sz="2000" b="1" dirty="0" smtClean="0"/>
              <a:t>    implements</a:t>
            </a:r>
          </a:p>
          <a:p>
            <a:r>
              <a:rPr lang="en-US" sz="2000" b="1" dirty="0" smtClean="0"/>
              <a:t>    X&lt;</a:t>
            </a:r>
            <a:r>
              <a:rPr lang="en-US" sz="2000" b="1" dirty="0" err="1" smtClean="0"/>
              <a:t>SubjectType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RelationshipType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ObjectType</a:t>
            </a:r>
            <a:r>
              <a:rPr lang="en-US" sz="2000" b="1" dirty="0" smtClean="0"/>
              <a:t>&gt;</a:t>
            </a:r>
            <a:r>
              <a:rPr lang="en-US" sz="2000" dirty="0" smtClean="0"/>
              <a:t> {</a:t>
            </a:r>
          </a:p>
          <a:p>
            <a:r>
              <a:rPr lang="en-US" sz="2000" dirty="0" smtClean="0"/>
              <a:t>}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46968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637937"/>
            <a:ext cx="8112798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public interface Identifiable&lt;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T extends Identifier&lt;? extends What&gt;, What&gt; 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    public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T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bg1">
                    <a:lumMod val="65000"/>
                  </a:schemeClr>
                </a:solidFill>
              </a:rPr>
              <a:t>getObjectID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();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    public Class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&lt;? super What&gt; 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type();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public interface Identifier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&lt;T&gt;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 {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    public long </a:t>
            </a:r>
            <a:r>
              <a:rPr lang="en-US" sz="2000" dirty="0" err="1" smtClean="0">
                <a:solidFill>
                  <a:schemeClr val="bg1">
                    <a:lumMod val="65000"/>
                  </a:schemeClr>
                </a:solidFill>
              </a:rPr>
              <a:t>getID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();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    public Class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&lt;? super T&gt; 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type();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interface X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&lt;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SubjectType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extends Identifiable,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RelationshipType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extends</a:t>
            </a:r>
          </a:p>
          <a:p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Enum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&lt;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RelationshipType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&gt; &amp; Related,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ObjectType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extends Identifiable&gt;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{}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 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static class A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&lt;</a:t>
            </a:r>
          </a:p>
          <a:p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SI extends Identifier&lt;? extends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SubjectType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&gt;,</a:t>
            </a:r>
          </a:p>
          <a:p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OI extends Identifier&lt;? extends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ObjectType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&gt;,</a:t>
            </a:r>
          </a:p>
          <a:p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SubjectType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extends Identifiable&lt;SI,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SubjectType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&gt;,</a:t>
            </a:r>
          </a:p>
          <a:p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RelationshipType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extends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Enum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&lt;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RelationshipType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&gt; &amp; Related,</a:t>
            </a:r>
          </a:p>
          <a:p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ObjectType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extends Identifiable&lt;? extends OI, ? extends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ObjectType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&gt;&gt;</a:t>
            </a:r>
          </a:p>
          <a:p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implements</a:t>
            </a:r>
          </a:p>
          <a:p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X&lt;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SubjectType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RelationshipType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ObjectType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&gt;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 {</a:t>
            </a:r>
          </a:p>
          <a:p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}</a:t>
            </a: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161871"/>
            <a:ext cx="853440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“As I sit and stare in stunned </a:t>
            </a:r>
          </a:p>
          <a:p>
            <a:pPr algn="ctr"/>
            <a:r>
              <a:rPr lang="en-US" sz="3600" b="1" dirty="0" smtClean="0"/>
              <a:t>horror at this monster”</a:t>
            </a:r>
            <a:endParaRPr lang="en-US" sz="3600" b="1" dirty="0"/>
          </a:p>
        </p:txBody>
      </p:sp>
      <p:sp>
        <p:nvSpPr>
          <p:cNvPr id="6" name="Rectangle 5"/>
          <p:cNvSpPr/>
          <p:nvPr/>
        </p:nvSpPr>
        <p:spPr>
          <a:xfrm>
            <a:off x="239050" y="3087469"/>
            <a:ext cx="869770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sz="3600" b="1" dirty="0" smtClean="0"/>
              <a:t>"Writing </a:t>
            </a:r>
            <a:r>
              <a:rPr lang="en-US" sz="3600" b="1" dirty="0" err="1" smtClean="0"/>
              <a:t>generified</a:t>
            </a:r>
            <a:r>
              <a:rPr lang="en-US" sz="3600" b="1" dirty="0" smtClean="0"/>
              <a:t> classes is rocket science"</a:t>
            </a:r>
            <a:endParaRPr lang="en-US" sz="3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49500" y="4724400"/>
            <a:ext cx="8676350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/>
              <a:t>“Probably more time and brainpower was spent </a:t>
            </a:r>
          </a:p>
          <a:p>
            <a:pPr algn="ctr"/>
            <a:r>
              <a:rPr lang="en-US" sz="3200" b="1" dirty="0" smtClean="0"/>
              <a:t>fussing with generics than any other single thing” </a:t>
            </a:r>
          </a:p>
        </p:txBody>
      </p:sp>
    </p:spTree>
    <p:extLst>
      <p:ext uri="{BB962C8B-B14F-4D97-AF65-F5344CB8AC3E}">
        <p14:creationId xmlns:p14="http://schemas.microsoft.com/office/powerpoint/2010/main" xmlns="" val="3031133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654300"/>
            <a:ext cx="7643813" cy="420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28600" y="228600"/>
            <a:ext cx="869770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sz="3600" b="1" dirty="0" smtClean="0"/>
              <a:t>"Writing </a:t>
            </a:r>
            <a:r>
              <a:rPr lang="en-US" sz="3600" b="1" dirty="0" err="1" smtClean="0"/>
              <a:t>generified</a:t>
            </a:r>
            <a:r>
              <a:rPr lang="en-US" sz="3600" b="1" dirty="0" smtClean="0"/>
              <a:t> classes is rocket science"</a:t>
            </a:r>
            <a:endParaRPr lang="en-US" sz="3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39050" y="1295400"/>
            <a:ext cx="8676350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/>
              <a:t>“Probably more time and brainpower was spent </a:t>
            </a:r>
          </a:p>
          <a:p>
            <a:pPr algn="ctr"/>
            <a:r>
              <a:rPr lang="en-US" sz="3200" b="1" dirty="0" smtClean="0"/>
              <a:t>fussing with generics than any other single thing” </a:t>
            </a:r>
          </a:p>
        </p:txBody>
      </p:sp>
    </p:spTree>
    <p:extLst>
      <p:ext uri="{BB962C8B-B14F-4D97-AF65-F5344CB8AC3E}">
        <p14:creationId xmlns:p14="http://schemas.microsoft.com/office/powerpoint/2010/main" xmlns="" val="1859468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why are these people so angry?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“As </a:t>
            </a:r>
            <a:r>
              <a:rPr lang="en-US" dirty="0" smtClean="0"/>
              <a:t>a community, we often don’t formally evaluate our claims after we put them out into the </a:t>
            </a:r>
            <a:r>
              <a:rPr lang="en-US" dirty="0" smtClean="0"/>
              <a:t>world”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71006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Off-page Connector 4"/>
          <p:cNvSpPr/>
          <p:nvPr/>
        </p:nvSpPr>
        <p:spPr>
          <a:xfrm>
            <a:off x="7696200" y="4171890"/>
            <a:ext cx="1219200" cy="1828800"/>
          </a:xfrm>
          <a:prstGeom prst="flowChartOffpageConnecto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/>
              <a:t>Outcome</a:t>
            </a:r>
          </a:p>
          <a:p>
            <a:pPr algn="ctr"/>
            <a:r>
              <a:rPr lang="en-US" dirty="0" smtClean="0"/>
              <a:t>?</a:t>
            </a:r>
          </a:p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924800" y="6305490"/>
            <a:ext cx="704039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smtClean="0"/>
              <a:t>2011</a:t>
            </a:r>
            <a:endParaRPr lang="en-US" b="1" dirty="0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28600" y="6076890"/>
            <a:ext cx="86868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Flowchart: Off-page Connector 7"/>
          <p:cNvSpPr/>
          <p:nvPr/>
        </p:nvSpPr>
        <p:spPr>
          <a:xfrm>
            <a:off x="381000" y="4171890"/>
            <a:ext cx="1219200" cy="1828800"/>
          </a:xfrm>
          <a:prstGeom prst="flowChartOffpageConnec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/>
              <a:t>Gosling</a:t>
            </a:r>
          </a:p>
          <a:p>
            <a:pPr algn="ctr"/>
            <a:r>
              <a:rPr lang="en-US" dirty="0" smtClean="0"/>
              <a:t>Idea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9600" y="630549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1994</a:t>
            </a:r>
            <a:endParaRPr lang="en-US" b="1" dirty="0" smtClean="0"/>
          </a:p>
        </p:txBody>
      </p:sp>
      <p:grpSp>
        <p:nvGrpSpPr>
          <p:cNvPr id="10" name="Group 9"/>
          <p:cNvGrpSpPr/>
          <p:nvPr/>
        </p:nvGrpSpPr>
        <p:grpSpPr>
          <a:xfrm>
            <a:off x="1981200" y="4171890"/>
            <a:ext cx="1219200" cy="2533710"/>
            <a:chOff x="1981200" y="4171890"/>
            <a:chExt cx="1219200" cy="2533710"/>
          </a:xfrm>
        </p:grpSpPr>
        <p:sp>
          <p:nvSpPr>
            <p:cNvPr id="11" name="Flowchart: Off-page Connector 10"/>
            <p:cNvSpPr/>
            <p:nvPr/>
          </p:nvSpPr>
          <p:spPr>
            <a:xfrm>
              <a:off x="1981200" y="4171890"/>
              <a:ext cx="1219200" cy="1828800"/>
            </a:xfrm>
            <a:prstGeom prst="flowChartOffpageConnector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/>
                <a:t>Guy Steele </a:t>
              </a:r>
              <a:r>
                <a:rPr lang="en-US" dirty="0" smtClean="0"/>
                <a:t>Debate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09800" y="6305490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1998</a:t>
              </a:r>
              <a:endParaRPr lang="en-US" b="1" dirty="0" smtClean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91000" y="4171890"/>
            <a:ext cx="1219200" cy="2533710"/>
            <a:chOff x="4191000" y="4171890"/>
            <a:chExt cx="1219200" cy="2533710"/>
          </a:xfrm>
        </p:grpSpPr>
        <p:sp>
          <p:nvSpPr>
            <p:cNvPr id="14" name="Flowchart: Off-page Connector 13"/>
            <p:cNvSpPr/>
            <p:nvPr/>
          </p:nvSpPr>
          <p:spPr>
            <a:xfrm>
              <a:off x="4191000" y="4171890"/>
              <a:ext cx="1219200" cy="1828800"/>
            </a:xfrm>
            <a:prstGeom prst="flowChartOffpageConnector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/>
                <a:t>Java 5</a:t>
              </a:r>
            </a:p>
            <a:p>
              <a:pPr algn="ctr"/>
              <a:r>
                <a:rPr lang="en-US" dirty="0" smtClean="0"/>
                <a:t>Implement and Release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95800" y="6305490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2004</a:t>
              </a:r>
              <a:endParaRPr lang="en-US" b="1" dirty="0" smtClean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924800" y="6305490"/>
            <a:ext cx="704039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smtClean="0"/>
              <a:t>2011</a:t>
            </a:r>
            <a:endParaRPr lang="en-US" b="1" dirty="0" smtClean="0"/>
          </a:p>
        </p:txBody>
      </p:sp>
      <p:sp>
        <p:nvSpPr>
          <p:cNvPr id="28" name="Right Brace 27"/>
          <p:cNvSpPr/>
          <p:nvPr/>
        </p:nvSpPr>
        <p:spPr>
          <a:xfrm rot="16200000">
            <a:off x="6324600" y="4857690"/>
            <a:ext cx="533400" cy="175260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791200" y="4996934"/>
            <a:ext cx="1774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Developer Usage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632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28" grpId="0" animBg="1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To </a:t>
            </a:r>
            <a:r>
              <a:rPr lang="en-US" dirty="0" smtClean="0"/>
              <a:t>investigate what happened to generics,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let’s </a:t>
            </a:r>
            <a:r>
              <a:rPr lang="en-US" dirty="0" smtClean="0"/>
              <a:t>look at the claims and </a:t>
            </a:r>
            <a:r>
              <a:rPr lang="en-US" dirty="0"/>
              <a:t>complaints </a:t>
            </a:r>
            <a:r>
              <a:rPr lang="en-US" dirty="0" smtClean="0"/>
              <a:t>made</a:t>
            </a:r>
          </a:p>
          <a:p>
            <a:pPr>
              <a:buNone/>
            </a:pPr>
            <a:r>
              <a:rPr lang="en-US" dirty="0" smtClean="0"/>
              <a:t>about </a:t>
            </a:r>
            <a:r>
              <a:rPr lang="en-US" dirty="0" smtClean="0"/>
              <a:t>generics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6985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352800"/>
            <a:ext cx="8095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Did programmers adopt and use generics?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57200" y="381000"/>
            <a:ext cx="8229600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“I suspect we will see a lot of Java 5 code that continues to do things the </a:t>
            </a:r>
            <a:r>
              <a:rPr lang="en-US" sz="2800" b="1" i="1" dirty="0" smtClean="0"/>
              <a:t>bad old way</a:t>
            </a:r>
            <a:r>
              <a:rPr lang="en-US" sz="2800" b="1" dirty="0" smtClean="0"/>
              <a:t> as a result and contend with the mish-mash that results” 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(2005) </a:t>
            </a:r>
            <a:endParaRPr lang="en-US" sz="2800" b="1" dirty="0" smtClean="0"/>
          </a:p>
          <a:p>
            <a:pPr algn="ctr"/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-- lambda the ultimate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0 0.35648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5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352800"/>
            <a:ext cx="8095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Did programmers adopt and use generics?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457200"/>
            <a:ext cx="8001000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 smtClean="0"/>
              <a:t>“There seems to be some </a:t>
            </a:r>
            <a:r>
              <a:rPr lang="en-US" sz="3600" b="1" dirty="0" smtClean="0"/>
              <a:t>debate</a:t>
            </a:r>
            <a:r>
              <a:rPr lang="en-US" sz="3600" dirty="0" smtClean="0"/>
              <a:t> </a:t>
            </a:r>
            <a:r>
              <a:rPr lang="en-US" sz="2800" dirty="0" smtClean="0"/>
              <a:t>over refactoring to utilize java generics within my current team … </a:t>
            </a:r>
            <a:r>
              <a:rPr lang="en-US" sz="2800" i="1" dirty="0" smtClean="0"/>
              <a:t>a holy war</a:t>
            </a:r>
            <a:r>
              <a:rPr lang="en-US" sz="2800" dirty="0" smtClean="0"/>
              <a:t> going on about what should and should not be done …” 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en-US" sz="2800" dirty="0" err="1" smtClean="0">
                <a:solidFill>
                  <a:schemeClr val="bg1">
                    <a:lumMod val="50000"/>
                  </a:schemeClr>
                </a:solidFill>
              </a:rPr>
              <a:t>stackoverflow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419600"/>
            <a:ext cx="7951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Will teammates all agree to use generics?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L -0.00416 0.49213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2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5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352800"/>
            <a:ext cx="8095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Did programmers adopt and use generics?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419600"/>
            <a:ext cx="7951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Will teammates all agree to use generics?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381000"/>
            <a:ext cx="8001000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 smtClean="0"/>
              <a:t>“Do you </a:t>
            </a:r>
            <a:r>
              <a:rPr lang="en-US" sz="2800" b="1" i="1" dirty="0" smtClean="0"/>
              <a:t>want</a:t>
            </a:r>
            <a:r>
              <a:rPr lang="en-US" sz="2800" b="1" dirty="0" smtClean="0"/>
              <a:t> to go back to casting-from-Object in every container access and dealing with the resulting runtime-revealed type errors?” </a:t>
            </a:r>
            <a:r>
              <a:rPr lang="en-US" sz="2800" b="1" dirty="0" smtClean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en-US" sz="2800" b="1" dirty="0" err="1" smtClean="0">
                <a:solidFill>
                  <a:schemeClr val="bg1">
                    <a:lumMod val="50000"/>
                  </a:schemeClr>
                </a:solidFill>
              </a:rPr>
              <a:t>stackoverflow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5562600"/>
            <a:ext cx="7219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Does generics reduce runtime errors?</a:t>
            </a:r>
            <a:endParaRPr lang="en-US" sz="2400" dirty="0"/>
          </a:p>
        </p:txBody>
      </p:sp>
      <p:sp>
        <p:nvSpPr>
          <p:cNvPr id="9" name="Freeform 8"/>
          <p:cNvSpPr/>
          <p:nvPr/>
        </p:nvSpPr>
        <p:spPr>
          <a:xfrm>
            <a:off x="4495800" y="5867400"/>
            <a:ext cx="3073400" cy="150417"/>
          </a:xfrm>
          <a:custGeom>
            <a:avLst/>
            <a:gdLst>
              <a:gd name="connsiteX0" fmla="*/ 0 w 7344229"/>
              <a:gd name="connsiteY0" fmla="*/ 101600 h 237503"/>
              <a:gd name="connsiteX1" fmla="*/ 246743 w 7344229"/>
              <a:gd name="connsiteY1" fmla="*/ 87086 h 237503"/>
              <a:gd name="connsiteX2" fmla="*/ 377372 w 7344229"/>
              <a:gd name="connsiteY2" fmla="*/ 58057 h 237503"/>
              <a:gd name="connsiteX3" fmla="*/ 551543 w 7344229"/>
              <a:gd name="connsiteY3" fmla="*/ 29029 h 237503"/>
              <a:gd name="connsiteX4" fmla="*/ 914400 w 7344229"/>
              <a:gd name="connsiteY4" fmla="*/ 0 h 237503"/>
              <a:gd name="connsiteX5" fmla="*/ 1088572 w 7344229"/>
              <a:gd name="connsiteY5" fmla="*/ 14515 h 237503"/>
              <a:gd name="connsiteX6" fmla="*/ 1146629 w 7344229"/>
              <a:gd name="connsiteY6" fmla="*/ 29029 h 237503"/>
              <a:gd name="connsiteX7" fmla="*/ 1451429 w 7344229"/>
              <a:gd name="connsiteY7" fmla="*/ 58057 h 237503"/>
              <a:gd name="connsiteX8" fmla="*/ 1567543 w 7344229"/>
              <a:gd name="connsiteY8" fmla="*/ 72572 h 237503"/>
              <a:gd name="connsiteX9" fmla="*/ 1640115 w 7344229"/>
              <a:gd name="connsiteY9" fmla="*/ 87086 h 237503"/>
              <a:gd name="connsiteX10" fmla="*/ 1727200 w 7344229"/>
              <a:gd name="connsiteY10" fmla="*/ 101600 h 237503"/>
              <a:gd name="connsiteX11" fmla="*/ 1828800 w 7344229"/>
              <a:gd name="connsiteY11" fmla="*/ 130629 h 237503"/>
              <a:gd name="connsiteX12" fmla="*/ 1901372 w 7344229"/>
              <a:gd name="connsiteY12" fmla="*/ 145143 h 237503"/>
              <a:gd name="connsiteX13" fmla="*/ 1944915 w 7344229"/>
              <a:gd name="connsiteY13" fmla="*/ 159657 h 237503"/>
              <a:gd name="connsiteX14" fmla="*/ 2380343 w 7344229"/>
              <a:gd name="connsiteY14" fmla="*/ 174172 h 237503"/>
              <a:gd name="connsiteX15" fmla="*/ 2510972 w 7344229"/>
              <a:gd name="connsiteY15" fmla="*/ 188686 h 237503"/>
              <a:gd name="connsiteX16" fmla="*/ 2612572 w 7344229"/>
              <a:gd name="connsiteY16" fmla="*/ 203200 h 237503"/>
              <a:gd name="connsiteX17" fmla="*/ 3352800 w 7344229"/>
              <a:gd name="connsiteY17" fmla="*/ 188686 h 237503"/>
              <a:gd name="connsiteX18" fmla="*/ 4702629 w 7344229"/>
              <a:gd name="connsiteY18" fmla="*/ 174172 h 237503"/>
              <a:gd name="connsiteX19" fmla="*/ 4876800 w 7344229"/>
              <a:gd name="connsiteY19" fmla="*/ 145143 h 237503"/>
              <a:gd name="connsiteX20" fmla="*/ 4963886 w 7344229"/>
              <a:gd name="connsiteY20" fmla="*/ 174172 h 237503"/>
              <a:gd name="connsiteX21" fmla="*/ 5007429 w 7344229"/>
              <a:gd name="connsiteY21" fmla="*/ 188686 h 237503"/>
              <a:gd name="connsiteX22" fmla="*/ 5500915 w 7344229"/>
              <a:gd name="connsiteY22" fmla="*/ 203200 h 237503"/>
              <a:gd name="connsiteX23" fmla="*/ 5849258 w 7344229"/>
              <a:gd name="connsiteY23" fmla="*/ 203200 h 237503"/>
              <a:gd name="connsiteX24" fmla="*/ 6270172 w 7344229"/>
              <a:gd name="connsiteY24" fmla="*/ 217715 h 237503"/>
              <a:gd name="connsiteX25" fmla="*/ 6676572 w 7344229"/>
              <a:gd name="connsiteY25" fmla="*/ 203200 h 237503"/>
              <a:gd name="connsiteX26" fmla="*/ 7024915 w 7344229"/>
              <a:gd name="connsiteY26" fmla="*/ 174172 h 237503"/>
              <a:gd name="connsiteX27" fmla="*/ 7112000 w 7344229"/>
              <a:gd name="connsiteY27" fmla="*/ 159657 h 237503"/>
              <a:gd name="connsiteX28" fmla="*/ 7155543 w 7344229"/>
              <a:gd name="connsiteY28" fmla="*/ 145143 h 237503"/>
              <a:gd name="connsiteX29" fmla="*/ 7315200 w 7344229"/>
              <a:gd name="connsiteY29" fmla="*/ 116115 h 237503"/>
              <a:gd name="connsiteX30" fmla="*/ 7344229 w 7344229"/>
              <a:gd name="connsiteY30" fmla="*/ 87086 h 237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344229" h="237503">
                <a:moveTo>
                  <a:pt x="0" y="101600"/>
                </a:moveTo>
                <a:cubicBezTo>
                  <a:pt x="82248" y="96762"/>
                  <a:pt x="164663" y="94223"/>
                  <a:pt x="246743" y="87086"/>
                </a:cubicBezTo>
                <a:cubicBezTo>
                  <a:pt x="369233" y="76435"/>
                  <a:pt x="295350" y="78563"/>
                  <a:pt x="377372" y="58057"/>
                </a:cubicBezTo>
                <a:cubicBezTo>
                  <a:pt x="428057" y="45385"/>
                  <a:pt x="502392" y="35173"/>
                  <a:pt x="551543" y="29029"/>
                </a:cubicBezTo>
                <a:cubicBezTo>
                  <a:pt x="713095" y="8835"/>
                  <a:pt x="720170" y="12140"/>
                  <a:pt x="914400" y="0"/>
                </a:cubicBezTo>
                <a:cubicBezTo>
                  <a:pt x="972457" y="4838"/>
                  <a:pt x="1030763" y="7289"/>
                  <a:pt x="1088572" y="14515"/>
                </a:cubicBezTo>
                <a:cubicBezTo>
                  <a:pt x="1108366" y="16989"/>
                  <a:pt x="1126823" y="26652"/>
                  <a:pt x="1146629" y="29029"/>
                </a:cubicBezTo>
                <a:cubicBezTo>
                  <a:pt x="1247962" y="41189"/>
                  <a:pt x="1350157" y="45397"/>
                  <a:pt x="1451429" y="58057"/>
                </a:cubicBezTo>
                <a:cubicBezTo>
                  <a:pt x="1490134" y="62895"/>
                  <a:pt x="1528991" y="66641"/>
                  <a:pt x="1567543" y="72572"/>
                </a:cubicBezTo>
                <a:cubicBezTo>
                  <a:pt x="1591926" y="76323"/>
                  <a:pt x="1615843" y="82673"/>
                  <a:pt x="1640115" y="87086"/>
                </a:cubicBezTo>
                <a:cubicBezTo>
                  <a:pt x="1669069" y="92350"/>
                  <a:pt x="1698172" y="96762"/>
                  <a:pt x="1727200" y="101600"/>
                </a:cubicBezTo>
                <a:cubicBezTo>
                  <a:pt x="1775691" y="117765"/>
                  <a:pt x="1774122" y="118479"/>
                  <a:pt x="1828800" y="130629"/>
                </a:cubicBezTo>
                <a:cubicBezTo>
                  <a:pt x="1852882" y="135980"/>
                  <a:pt x="1877439" y="139160"/>
                  <a:pt x="1901372" y="145143"/>
                </a:cubicBezTo>
                <a:cubicBezTo>
                  <a:pt x="1916215" y="148854"/>
                  <a:pt x="1929644" y="158731"/>
                  <a:pt x="1944915" y="159657"/>
                </a:cubicBezTo>
                <a:cubicBezTo>
                  <a:pt x="2089872" y="168442"/>
                  <a:pt x="2235200" y="169334"/>
                  <a:pt x="2380343" y="174172"/>
                </a:cubicBezTo>
                <a:lnTo>
                  <a:pt x="2510972" y="188686"/>
                </a:lnTo>
                <a:cubicBezTo>
                  <a:pt x="2544918" y="192929"/>
                  <a:pt x="2578362" y="203200"/>
                  <a:pt x="2612572" y="203200"/>
                </a:cubicBezTo>
                <a:cubicBezTo>
                  <a:pt x="2859362" y="203200"/>
                  <a:pt x="3106034" y="192113"/>
                  <a:pt x="3352800" y="188686"/>
                </a:cubicBezTo>
                <a:lnTo>
                  <a:pt x="4702629" y="174172"/>
                </a:lnTo>
                <a:cubicBezTo>
                  <a:pt x="4760686" y="164496"/>
                  <a:pt x="4820963" y="126530"/>
                  <a:pt x="4876800" y="145143"/>
                </a:cubicBezTo>
                <a:lnTo>
                  <a:pt x="4963886" y="174172"/>
                </a:lnTo>
                <a:cubicBezTo>
                  <a:pt x="4978400" y="179010"/>
                  <a:pt x="4992136" y="188236"/>
                  <a:pt x="5007429" y="188686"/>
                </a:cubicBezTo>
                <a:lnTo>
                  <a:pt x="5500915" y="203200"/>
                </a:lnTo>
                <a:cubicBezTo>
                  <a:pt x="5706721" y="237503"/>
                  <a:pt x="5461737" y="203200"/>
                  <a:pt x="5849258" y="203200"/>
                </a:cubicBezTo>
                <a:cubicBezTo>
                  <a:pt x="5989646" y="203200"/>
                  <a:pt x="6129867" y="212877"/>
                  <a:pt x="6270172" y="217715"/>
                </a:cubicBezTo>
                <a:cubicBezTo>
                  <a:pt x="6609028" y="185442"/>
                  <a:pt x="6473938" y="174253"/>
                  <a:pt x="6676572" y="203200"/>
                </a:cubicBezTo>
                <a:cubicBezTo>
                  <a:pt x="6825692" y="193259"/>
                  <a:pt x="6889648" y="192208"/>
                  <a:pt x="7024915" y="174172"/>
                </a:cubicBezTo>
                <a:cubicBezTo>
                  <a:pt x="7054086" y="170283"/>
                  <a:pt x="7083272" y="166041"/>
                  <a:pt x="7112000" y="159657"/>
                </a:cubicBezTo>
                <a:cubicBezTo>
                  <a:pt x="7126935" y="156338"/>
                  <a:pt x="7140608" y="148462"/>
                  <a:pt x="7155543" y="145143"/>
                </a:cubicBezTo>
                <a:cubicBezTo>
                  <a:pt x="7162932" y="143501"/>
                  <a:pt x="7300977" y="122211"/>
                  <a:pt x="7315200" y="116115"/>
                </a:cubicBezTo>
                <a:cubicBezTo>
                  <a:pt x="7327778" y="110724"/>
                  <a:pt x="7334553" y="96762"/>
                  <a:pt x="7344229" y="87086"/>
                </a:cubicBezTo>
              </a:path>
            </a:pathLst>
          </a:cu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/>
          <p:cNvSpPr/>
          <p:nvPr/>
        </p:nvSpPr>
        <p:spPr>
          <a:xfrm>
            <a:off x="4876800" y="3048000"/>
            <a:ext cx="3733800" cy="1828800"/>
          </a:xfrm>
          <a:prstGeom prst="wedgeRoundRectCallout">
            <a:avLst>
              <a:gd name="adj1" fmla="val -39793"/>
              <a:gd name="adj2" fmla="val 9700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/>
              <a:t>ClassCastExceptions</a:t>
            </a:r>
            <a:r>
              <a:rPr lang="en-US" sz="2400" b="1" dirty="0" smtClean="0"/>
              <a:t> </a:t>
            </a:r>
            <a:r>
              <a:rPr lang="en-US" sz="2400" dirty="0" smtClean="0"/>
              <a:t>are rarely seen in bug reports!</a:t>
            </a:r>
          </a:p>
          <a:p>
            <a:pPr algn="ctr"/>
            <a:r>
              <a:rPr lang="en-US" sz="2400" i="1" dirty="0" smtClean="0"/>
              <a:t>Caught with local testing before check-ins, etc…</a:t>
            </a:r>
            <a:endParaRPr lang="en-US" sz="2400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5562600"/>
            <a:ext cx="5421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Does generics reduce casts?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-0.00417 0.7213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5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5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8" grpId="1"/>
      <p:bldP spid="8" grpId="2"/>
      <p:bldP spid="9" grpId="0" animBg="1"/>
      <p:bldP spid="9" grpId="1" animBg="1"/>
      <p:bldP spid="10" grpId="0" animBg="1"/>
      <p:bldP spid="10" grpId="1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352800"/>
            <a:ext cx="8095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Did programmers adopt and use generics?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4419600"/>
            <a:ext cx="7951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Will teammates all agree to use generics?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5562600"/>
            <a:ext cx="5421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Does generics reduce casts?</a:t>
            </a:r>
            <a:endParaRPr lang="en-US" sz="2400" dirty="0"/>
          </a:p>
        </p:txBody>
      </p:sp>
      <p:sp>
        <p:nvSpPr>
          <p:cNvPr id="12" name="Rounded Rectangle 11"/>
          <p:cNvSpPr/>
          <p:nvPr/>
        </p:nvSpPr>
        <p:spPr>
          <a:xfrm>
            <a:off x="7543800" y="304800"/>
            <a:ext cx="1447800" cy="533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RQ 1 Adoption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7543800" y="914400"/>
            <a:ext cx="1447800" cy="533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RQ 2</a:t>
            </a:r>
          </a:p>
          <a:p>
            <a:pPr algn="ctr"/>
            <a:r>
              <a:rPr lang="en-US" dirty="0" smtClean="0"/>
              <a:t>Coordination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7543800" y="1524000"/>
            <a:ext cx="1447800" cy="533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RQ 3</a:t>
            </a:r>
          </a:p>
          <a:p>
            <a:pPr algn="ctr"/>
            <a:r>
              <a:rPr lang="en-US" dirty="0" smtClean="0"/>
              <a:t>Casts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0.3408 -0.4247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" y="-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55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4.81481E-6 L 0.36528 -0.50255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" y="-2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5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85185E-6 L 0.51198 -0.56921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" y="-2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55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  <p:bldP spid="11" grpId="0"/>
      <p:bldP spid="11" grpId="1"/>
      <p:bldP spid="12" grpId="0" animBg="1"/>
      <p:bldP spid="13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Study Setup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609600" y="3962400"/>
            <a:ext cx="7670909" cy="2579132"/>
            <a:chOff x="609600" y="3962400"/>
            <a:chExt cx="7670909" cy="2579132"/>
          </a:xfrm>
        </p:grpSpPr>
        <p:pic>
          <p:nvPicPr>
            <p:cNvPr id="11" name="Picture 2" descr="http://www.openclipart.org/image/800px/svg_to_png/text-file-icon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9600" y="3962400"/>
              <a:ext cx="2286000" cy="2286000"/>
            </a:xfrm>
            <a:prstGeom prst="rect">
              <a:avLst/>
            </a:prstGeom>
            <a:noFill/>
          </p:spPr>
        </p:pic>
        <p:sp>
          <p:nvSpPr>
            <p:cNvPr id="14" name="Rectangle 13"/>
            <p:cNvSpPr/>
            <p:nvPr/>
          </p:nvSpPr>
          <p:spPr>
            <a:xfrm>
              <a:off x="3581400" y="4724400"/>
              <a:ext cx="1676400" cy="990600"/>
            </a:xfrm>
            <a:prstGeom prst="rect">
              <a:avLst/>
            </a:prstGeom>
            <a:solidFill>
              <a:srgbClr val="D8CFE3"/>
            </a:solidFill>
            <a:ln>
              <a:prstDash val="sysDash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5"/>
                  </a:solidFill>
                </a:rPr>
                <a:t>&lt;P&gt;</a:t>
              </a:r>
              <a:r>
                <a:rPr lang="en-US" dirty="0" smtClean="0"/>
                <a:t>   </a:t>
              </a:r>
              <a:r>
                <a:rPr lang="en-US" dirty="0" smtClean="0">
                  <a:solidFill>
                    <a:schemeClr val="tx1"/>
                  </a:solidFill>
                </a:rPr>
                <a:t>&lt;M&gt;</a:t>
              </a:r>
              <a:r>
                <a:rPr lang="en-US" dirty="0" smtClean="0"/>
                <a:t> </a:t>
              </a:r>
              <a:r>
                <a:rPr lang="en-US" dirty="0" smtClean="0"/>
                <a:t> </a:t>
              </a:r>
              <a:r>
                <a:rPr lang="en-US" dirty="0" smtClean="0">
                  <a:solidFill>
                    <a:schemeClr val="accent2"/>
                  </a:solidFill>
                </a:rPr>
                <a:t>(C)</a:t>
              </a:r>
              <a:r>
                <a:rPr lang="en-US" dirty="0" smtClean="0"/>
                <a:t>  </a:t>
              </a:r>
              <a:r>
                <a:rPr lang="en-US" dirty="0" smtClean="0">
                  <a:solidFill>
                    <a:schemeClr val="accent1"/>
                  </a:solidFill>
                </a:rPr>
                <a:t>&lt;T&gt;</a:t>
              </a:r>
              <a:r>
                <a:rPr lang="en-US" dirty="0" smtClean="0"/>
                <a:t> </a:t>
              </a:r>
              <a:r>
                <a:rPr lang="en-US" dirty="0" smtClean="0"/>
                <a:t> </a:t>
              </a:r>
              <a:r>
                <a:rPr lang="en-US" dirty="0" smtClean="0">
                  <a:solidFill>
                    <a:schemeClr val="accent6"/>
                  </a:solidFill>
                </a:rPr>
                <a:t>R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15" name="Chevron 14"/>
            <p:cNvSpPr/>
            <p:nvPr/>
          </p:nvSpPr>
          <p:spPr>
            <a:xfrm>
              <a:off x="2819400" y="5029200"/>
              <a:ext cx="484632" cy="484632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6172200"/>
              <a:ext cx="1649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500 million LOC</a:t>
              </a:r>
              <a:endParaRPr lang="en-US" u="sng" dirty="0"/>
            </a:p>
          </p:txBody>
        </p:sp>
        <p:sp>
          <p:nvSpPr>
            <p:cNvPr id="17" name="Can 16"/>
            <p:cNvSpPr/>
            <p:nvPr/>
          </p:nvSpPr>
          <p:spPr>
            <a:xfrm>
              <a:off x="6172200" y="4267200"/>
              <a:ext cx="1676400" cy="18288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hevron 17"/>
            <p:cNvSpPr/>
            <p:nvPr/>
          </p:nvSpPr>
          <p:spPr>
            <a:xfrm>
              <a:off x="5486400" y="5029200"/>
              <a:ext cx="484632" cy="484632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95600" y="6172200"/>
              <a:ext cx="3062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Entities of Interest Per Commit</a:t>
              </a:r>
              <a:endParaRPr lang="en-US" u="sng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6000" y="6172200"/>
              <a:ext cx="21845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Database for Analysis</a:t>
              </a:r>
              <a:endParaRPr lang="en-US" u="sng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600200" y="1447800"/>
            <a:ext cx="6039667" cy="2198132"/>
            <a:chOff x="1600200" y="1447800"/>
            <a:chExt cx="6039667" cy="2198132"/>
          </a:xfrm>
        </p:grpSpPr>
        <p:sp>
          <p:nvSpPr>
            <p:cNvPr id="22" name="Rectangle 21"/>
            <p:cNvSpPr/>
            <p:nvPr/>
          </p:nvSpPr>
          <p:spPr>
            <a:xfrm>
              <a:off x="2438400" y="1447800"/>
              <a:ext cx="3810000" cy="1676400"/>
            </a:xfrm>
            <a:prstGeom prst="rect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/>
                </a:solidFill>
              </a:endParaRPr>
            </a:p>
          </p:txBody>
        </p:sp>
        <p:pic>
          <p:nvPicPr>
            <p:cNvPr id="4" name="Picture 2" descr="Lucen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52800" y="2057400"/>
              <a:ext cx="2057400" cy="315469"/>
            </a:xfrm>
            <a:prstGeom prst="rect">
              <a:avLst/>
            </a:prstGeom>
            <a:noFill/>
          </p:spPr>
        </p:pic>
        <p:pic>
          <p:nvPicPr>
            <p:cNvPr id="5" name="Picture 4" descr="Apache Ant logo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419600" y="1524000"/>
              <a:ext cx="1000125" cy="619126"/>
            </a:xfrm>
            <a:prstGeom prst="rect">
              <a:avLst/>
            </a:prstGeom>
            <a:noFill/>
          </p:spPr>
        </p:pic>
        <p:pic>
          <p:nvPicPr>
            <p:cNvPr id="6" name="Picture 6" descr="http://maven.apache.org/images/apache-maven-project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590800" y="2514600"/>
              <a:ext cx="1987176" cy="180975"/>
            </a:xfrm>
            <a:prstGeom prst="rect">
              <a:avLst/>
            </a:prstGeom>
            <a:noFill/>
          </p:spPr>
        </p:pic>
        <p:pic>
          <p:nvPicPr>
            <p:cNvPr id="7" name="Picture 8" descr="http://wiki.huihoo.com/images/0/0b/Spring25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572000" y="2438400"/>
              <a:ext cx="1371600" cy="649340"/>
            </a:xfrm>
            <a:prstGeom prst="rect">
              <a:avLst/>
            </a:prstGeom>
            <a:noFill/>
          </p:spPr>
        </p:pic>
        <p:pic>
          <p:nvPicPr>
            <p:cNvPr id="8" name="Picture 10" descr="http://4smart.net/blog/wp-content/uploads/hibernate-tutorial-pdf.pn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514600" y="1600200"/>
              <a:ext cx="1941454" cy="538873"/>
            </a:xfrm>
            <a:prstGeom prst="rect">
              <a:avLst/>
            </a:prstGeom>
            <a:noFill/>
          </p:spPr>
        </p:pic>
        <p:sp>
          <p:nvSpPr>
            <p:cNvPr id="23" name="TextBox 22"/>
            <p:cNvSpPr txBox="1"/>
            <p:nvPr/>
          </p:nvSpPr>
          <p:spPr>
            <a:xfrm>
              <a:off x="1600200" y="3276600"/>
              <a:ext cx="60396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Lifetime of 20 open-source projects: </a:t>
              </a:r>
              <a:r>
                <a:rPr lang="en-US" b="1" i="1" u="sng" dirty="0" smtClean="0"/>
                <a:t>Before</a:t>
              </a:r>
              <a:r>
                <a:rPr lang="en-US" u="sng" dirty="0" smtClean="0"/>
                <a:t> and </a:t>
              </a:r>
              <a:r>
                <a:rPr lang="en-US" b="1" i="1" u="sng" dirty="0" smtClean="0"/>
                <a:t>After </a:t>
              </a:r>
              <a:r>
                <a:rPr lang="en-US" i="1" u="sng" dirty="0" smtClean="0"/>
                <a:t>generics.</a:t>
              </a:r>
              <a:endParaRPr lang="en-US" i="1" u="sng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67922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Did programmers adopt and use generics?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88339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Picture 1114" descr="terracotta_frame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86528"/>
            <a:ext cx="9144000" cy="4885672"/>
          </a:xfrm>
          <a:prstGeom prst="rect">
            <a:avLst/>
          </a:prstGeom>
        </p:spPr>
      </p:pic>
      <p:pic>
        <p:nvPicPr>
          <p:cNvPr id="1114" name="Picture 1113" descr="terracotta_frame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286528"/>
            <a:ext cx="9144000" cy="4885672"/>
          </a:xfrm>
          <a:prstGeom prst="rect">
            <a:avLst/>
          </a:prstGeom>
        </p:spPr>
      </p:pic>
      <p:pic>
        <p:nvPicPr>
          <p:cNvPr id="1113" name="Picture 1112" descr="terracotta_frame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286528"/>
            <a:ext cx="9144000" cy="4885672"/>
          </a:xfrm>
          <a:prstGeom prst="rect">
            <a:avLst/>
          </a:prstGeom>
        </p:spPr>
      </p:pic>
      <p:sp>
        <p:nvSpPr>
          <p:cNvPr id="1117" name="Rounded Rectangle 1116"/>
          <p:cNvSpPr/>
          <p:nvPr/>
        </p:nvSpPr>
        <p:spPr>
          <a:xfrm>
            <a:off x="304800" y="304800"/>
            <a:ext cx="3200400" cy="76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532 developer’s generic usage?</a:t>
            </a:r>
            <a:endParaRPr lang="en-US" b="1" dirty="0"/>
          </a:p>
        </p:txBody>
      </p:sp>
      <p:sp>
        <p:nvSpPr>
          <p:cNvPr id="1118" name="Rounded Rectangular Callout 1117"/>
          <p:cNvSpPr/>
          <p:nvPr/>
        </p:nvSpPr>
        <p:spPr>
          <a:xfrm>
            <a:off x="228600" y="5257800"/>
            <a:ext cx="1752600" cy="1295400"/>
          </a:xfrm>
          <a:prstGeom prst="wedgeRoundRectCallout">
            <a:avLst>
              <a:gd name="adj1" fmla="val 104491"/>
              <a:gd name="adj2" fmla="val 1300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 generics!</a:t>
            </a:r>
            <a:endParaRPr lang="en-US" dirty="0"/>
          </a:p>
        </p:txBody>
      </p:sp>
      <p:sp>
        <p:nvSpPr>
          <p:cNvPr id="1119" name="Rounded Rectangular Callout 1118"/>
          <p:cNvSpPr/>
          <p:nvPr/>
        </p:nvSpPr>
        <p:spPr>
          <a:xfrm>
            <a:off x="6096000" y="304800"/>
            <a:ext cx="1752600" cy="1295400"/>
          </a:xfrm>
          <a:prstGeom prst="wedgeRoundRectCallout">
            <a:avLst>
              <a:gd name="adj1" fmla="val -54515"/>
              <a:gd name="adj2" fmla="val 8023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 use generic collections!</a:t>
            </a:r>
            <a:endParaRPr lang="en-US" dirty="0"/>
          </a:p>
        </p:txBody>
      </p:sp>
      <p:sp>
        <p:nvSpPr>
          <p:cNvPr id="1120" name="Rounded Rectangular Callout 1119"/>
          <p:cNvSpPr/>
          <p:nvPr/>
        </p:nvSpPr>
        <p:spPr>
          <a:xfrm>
            <a:off x="7162800" y="1905000"/>
            <a:ext cx="1828800" cy="1066800"/>
          </a:xfrm>
          <a:prstGeom prst="wedgeRoundRectCallout">
            <a:avLst>
              <a:gd name="adj1" fmla="val -39608"/>
              <a:gd name="adj2" fmla="val 79112"/>
              <a:gd name="adj3" fmla="val 16667"/>
            </a:avLst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 use generics methods or classes!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1858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" grpId="0" animBg="1"/>
      <p:bldP spid="1119" grpId="0" animBg="1"/>
      <p:bldP spid="11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Picture 1114" descr="terracotta_frame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286528"/>
            <a:ext cx="9144000" cy="4885672"/>
          </a:xfrm>
          <a:prstGeom prst="rect">
            <a:avLst/>
          </a:prstGeom>
        </p:spPr>
      </p:pic>
      <p:sp>
        <p:nvSpPr>
          <p:cNvPr id="1117" name="Rounded Rectangle 1116"/>
          <p:cNvSpPr/>
          <p:nvPr/>
        </p:nvSpPr>
        <p:spPr>
          <a:xfrm>
            <a:off x="304800" y="304800"/>
            <a:ext cx="3429000" cy="762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Developers with higher commit frequency?</a:t>
            </a:r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 rot="18990436">
            <a:off x="5329551" y="363625"/>
            <a:ext cx="2265077" cy="6844841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ular Callout 10"/>
          <p:cNvSpPr/>
          <p:nvPr/>
        </p:nvSpPr>
        <p:spPr>
          <a:xfrm>
            <a:off x="6324600" y="304800"/>
            <a:ext cx="2286000" cy="1295400"/>
          </a:xfrm>
          <a:prstGeom prst="wedgeRoundRectCallout">
            <a:avLst>
              <a:gd name="adj1" fmla="val -54515"/>
              <a:gd name="adj2" fmla="val 8023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Higher ratio of generics collection usage (42%)</a:t>
            </a:r>
            <a:endParaRPr lang="en-US" dirty="0"/>
          </a:p>
        </p:txBody>
      </p:sp>
      <p:sp>
        <p:nvSpPr>
          <p:cNvPr id="12" name="Rounded Rectangular Callout 11"/>
          <p:cNvSpPr/>
          <p:nvPr/>
        </p:nvSpPr>
        <p:spPr>
          <a:xfrm>
            <a:off x="7162800" y="1752600"/>
            <a:ext cx="1828800" cy="1219200"/>
          </a:xfrm>
          <a:prstGeom prst="wedgeRoundRectCallout">
            <a:avLst>
              <a:gd name="adj1" fmla="val -39608"/>
              <a:gd name="adj2" fmla="val 79112"/>
              <a:gd name="adj3" fmla="val 16667"/>
            </a:avLst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But generic methods or classes stay about the same.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5850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672595"/>
            <a:ext cx="8565697" cy="6185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1" name="Group 60"/>
          <p:cNvGrpSpPr/>
          <p:nvPr/>
        </p:nvGrpSpPr>
        <p:grpSpPr>
          <a:xfrm>
            <a:off x="381000" y="1371600"/>
            <a:ext cx="7086600" cy="3581400"/>
            <a:chOff x="381000" y="1371600"/>
            <a:chExt cx="7086600" cy="3581400"/>
          </a:xfrm>
        </p:grpSpPr>
        <p:sp>
          <p:nvSpPr>
            <p:cNvPr id="13" name="Rectangle 12"/>
            <p:cNvSpPr/>
            <p:nvPr/>
          </p:nvSpPr>
          <p:spPr>
            <a:xfrm>
              <a:off x="381000" y="1371600"/>
              <a:ext cx="228600" cy="35814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38200" y="3276600"/>
              <a:ext cx="228600" cy="16764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19200" y="3352800"/>
              <a:ext cx="228600" cy="1600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676400" y="3962400"/>
              <a:ext cx="228600" cy="9906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133600" y="4267200"/>
              <a:ext cx="228600" cy="6858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514600" y="4419600"/>
              <a:ext cx="228600" cy="5334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971800" y="4648200"/>
              <a:ext cx="228600" cy="3048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352800" y="4648200"/>
              <a:ext cx="228600" cy="3048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810000" y="4724400"/>
              <a:ext cx="228600" cy="2286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191000" y="4800600"/>
              <a:ext cx="228600" cy="1524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648200" y="4800600"/>
              <a:ext cx="228600" cy="1524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105400" y="4876800"/>
              <a:ext cx="228600" cy="76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0" y="4114800"/>
              <a:ext cx="228600" cy="838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943600" y="4267200"/>
              <a:ext cx="228600" cy="6858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324600" y="4648200"/>
              <a:ext cx="228600" cy="3048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781800" y="4648200"/>
              <a:ext cx="228600" cy="3048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239000" y="4800600"/>
              <a:ext cx="228600" cy="1524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381000" y="762000"/>
            <a:ext cx="8382000" cy="4191000"/>
            <a:chOff x="381000" y="762000"/>
            <a:chExt cx="8382000" cy="4191000"/>
          </a:xfrm>
        </p:grpSpPr>
        <p:sp>
          <p:nvSpPr>
            <p:cNvPr id="34" name="Rectangle 33"/>
            <p:cNvSpPr/>
            <p:nvPr/>
          </p:nvSpPr>
          <p:spPr>
            <a:xfrm>
              <a:off x="381000" y="762000"/>
              <a:ext cx="228600" cy="6096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38200" y="2286000"/>
              <a:ext cx="228600" cy="9906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219200" y="3200400"/>
              <a:ext cx="228600" cy="1524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514600" y="4343400"/>
              <a:ext cx="2286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648200" y="4764024"/>
              <a:ext cx="228600" cy="36576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486400" y="3200400"/>
              <a:ext cx="228600" cy="9144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943600" y="3124200"/>
              <a:ext cx="228600" cy="1143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324600" y="3581400"/>
              <a:ext cx="228600" cy="10668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781800" y="3581400"/>
              <a:ext cx="228600" cy="10668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239000" y="4114800"/>
              <a:ext cx="228600" cy="6858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620000" y="4572000"/>
              <a:ext cx="228600" cy="3810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077200" y="3886200"/>
              <a:ext cx="228600" cy="10668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534400" y="4724400"/>
              <a:ext cx="228600" cy="2286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486400" y="1371600"/>
            <a:ext cx="3276600" cy="1600200"/>
            <a:chOff x="5486400" y="1371600"/>
            <a:chExt cx="3276600" cy="1600200"/>
          </a:xfrm>
        </p:grpSpPr>
        <p:sp>
          <p:nvSpPr>
            <p:cNvPr id="48" name="Left Brace 47"/>
            <p:cNvSpPr/>
            <p:nvPr/>
          </p:nvSpPr>
          <p:spPr>
            <a:xfrm rot="5400000">
              <a:off x="6896100" y="1257300"/>
              <a:ext cx="304800" cy="3124200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ounded Rectangular Callout 48"/>
            <p:cNvSpPr/>
            <p:nvPr/>
          </p:nvSpPr>
          <p:spPr>
            <a:xfrm>
              <a:off x="5867400" y="1371600"/>
              <a:ext cx="2895600" cy="990600"/>
            </a:xfrm>
            <a:prstGeom prst="wedgeRoundRectCallout">
              <a:avLst>
                <a:gd name="adj1" fmla="val -10430"/>
                <a:gd name="adj2" fmla="val 76693"/>
                <a:gd name="adj3" fmla="val 16667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These projects heavily </a:t>
              </a:r>
              <a:r>
                <a:rPr lang="en-US" i="1" dirty="0" smtClean="0"/>
                <a:t>adopted</a:t>
              </a:r>
              <a:r>
                <a:rPr lang="en-US" dirty="0" smtClean="0"/>
                <a:t> generics.</a:t>
              </a:r>
              <a:endParaRPr lang="en-US" dirty="0"/>
            </a:p>
          </p:txBody>
        </p:sp>
      </p:grpSp>
      <p:sp>
        <p:nvSpPr>
          <p:cNvPr id="50" name="Rounded Rectangular Callout 49"/>
          <p:cNvSpPr/>
          <p:nvPr/>
        </p:nvSpPr>
        <p:spPr>
          <a:xfrm>
            <a:off x="2438400" y="3124200"/>
            <a:ext cx="2895600" cy="914400"/>
          </a:xfrm>
          <a:prstGeom prst="wedgeRoundRectCallout">
            <a:avLst>
              <a:gd name="adj1" fmla="val -29369"/>
              <a:gd name="adj2" fmla="val 11070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smtClean="0"/>
              <a:t>Raw types as baseline.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7391400" y="304800"/>
            <a:ext cx="228600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2"/>
          <p:cNvSpPr/>
          <p:nvPr/>
        </p:nvSpPr>
        <p:spPr>
          <a:xfrm>
            <a:off x="7010400" y="304800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Kartika" pitchFamily="18" charset="0"/>
                <a:cs typeface="Kartika" pitchFamily="18" charset="0"/>
              </a:rPr>
              <a:t>R</a:t>
            </a:r>
            <a:endParaRPr lang="en-US" dirty="0"/>
          </a:p>
        </p:txBody>
      </p:sp>
      <p:sp>
        <p:nvSpPr>
          <p:cNvPr id="57" name="Rectangle 3"/>
          <p:cNvSpPr/>
          <p:nvPr/>
        </p:nvSpPr>
        <p:spPr>
          <a:xfrm>
            <a:off x="7848600" y="304800"/>
            <a:ext cx="622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Kartika" pitchFamily="18" charset="0"/>
                <a:cs typeface="Kartika" pitchFamily="18" charset="0"/>
              </a:rPr>
              <a:t>&lt;P&gt;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8458200" y="304800"/>
            <a:ext cx="228600" cy="381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/>
          <p:cNvGrpSpPr/>
          <p:nvPr/>
        </p:nvGrpSpPr>
        <p:grpSpPr>
          <a:xfrm>
            <a:off x="1295400" y="1371600"/>
            <a:ext cx="3962400" cy="1600200"/>
            <a:chOff x="1295400" y="1371600"/>
            <a:chExt cx="3962400" cy="1600200"/>
          </a:xfrm>
        </p:grpSpPr>
        <p:sp>
          <p:nvSpPr>
            <p:cNvPr id="59" name="Left Brace 58"/>
            <p:cNvSpPr/>
            <p:nvPr/>
          </p:nvSpPr>
          <p:spPr>
            <a:xfrm rot="5400000">
              <a:off x="3048000" y="914400"/>
              <a:ext cx="304800" cy="3810000"/>
            </a:xfrm>
            <a:prstGeom prst="lef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ounded Rectangular Callout 59"/>
            <p:cNvSpPr/>
            <p:nvPr/>
          </p:nvSpPr>
          <p:spPr>
            <a:xfrm>
              <a:off x="2362200" y="1371600"/>
              <a:ext cx="2895600" cy="990600"/>
            </a:xfrm>
            <a:prstGeom prst="wedgeRoundRectCallout">
              <a:avLst>
                <a:gd name="adj1" fmla="val -20956"/>
                <a:gd name="adj2" fmla="val 76693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These projects </a:t>
              </a:r>
              <a:r>
                <a:rPr lang="en-US" dirty="0" smtClean="0"/>
                <a:t>mostly </a:t>
              </a:r>
              <a:r>
                <a:rPr lang="en-US" i="1" dirty="0" smtClean="0"/>
                <a:t>ignored</a:t>
              </a:r>
              <a:r>
                <a:rPr lang="en-US" dirty="0" smtClean="0"/>
                <a:t> generics.</a:t>
              </a:r>
              <a:endParaRPr lang="en-US" dirty="0"/>
            </a:p>
          </p:txBody>
        </p:sp>
      </p:grpSp>
      <p:sp>
        <p:nvSpPr>
          <p:cNvPr id="66" name="Rounded Rectangular Callout 65"/>
          <p:cNvSpPr/>
          <p:nvPr/>
        </p:nvSpPr>
        <p:spPr>
          <a:xfrm>
            <a:off x="4114800" y="152400"/>
            <a:ext cx="2895600" cy="914400"/>
          </a:xfrm>
          <a:prstGeom prst="wedgeRoundRectCallout">
            <a:avLst>
              <a:gd name="adj1" fmla="val 61092"/>
              <a:gd name="adj2" fmla="val 862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smtClean="0"/>
              <a:t>Raw Types and Parameterized Types</a:t>
            </a:r>
            <a:endParaRPr lang="en-US" dirty="0"/>
          </a:p>
        </p:txBody>
      </p:sp>
      <p:sp>
        <p:nvSpPr>
          <p:cNvPr id="68" name="Rounded Rectangular Callout 67"/>
          <p:cNvSpPr/>
          <p:nvPr/>
        </p:nvSpPr>
        <p:spPr>
          <a:xfrm>
            <a:off x="914400" y="381000"/>
            <a:ext cx="2895600" cy="914400"/>
          </a:xfrm>
          <a:prstGeom prst="wedgeRoundRectCallout">
            <a:avLst>
              <a:gd name="adj1" fmla="val -46803"/>
              <a:gd name="adj2" fmla="val 14924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smtClean="0"/>
              <a:t>Parameterized Types as adoption.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2063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66" grpId="0" animBg="1"/>
      <p:bldP spid="66" grpId="1" animBg="1"/>
      <p:bldP spid="68" grpId="0" animBg="1"/>
      <p:bldP spid="6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04800"/>
            <a:ext cx="5984875" cy="5918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ounded Rectangular Callout 14"/>
          <p:cNvSpPr/>
          <p:nvPr/>
        </p:nvSpPr>
        <p:spPr>
          <a:xfrm>
            <a:off x="3124200" y="2819400"/>
            <a:ext cx="1524000" cy="841248"/>
          </a:xfrm>
          <a:prstGeom prst="wedgeRoundRectCallout">
            <a:avLst>
              <a:gd name="adj1" fmla="val -16976"/>
              <a:gd name="adj2" fmla="val 8509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Never used generics</a:t>
            </a:r>
            <a:endParaRPr lang="en-US" dirty="0"/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304800"/>
            <a:ext cx="5984875" cy="5918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304800"/>
            <a:ext cx="5984875" cy="5918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304800"/>
            <a:ext cx="5984875" cy="5918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6" name="Rounded Rectangular Callout 5"/>
          <p:cNvSpPr/>
          <p:nvPr/>
        </p:nvSpPr>
        <p:spPr>
          <a:xfrm>
            <a:off x="4572000" y="2590800"/>
            <a:ext cx="1828800" cy="1143000"/>
          </a:xfrm>
          <a:prstGeom prst="wedgeRoundRectCallout">
            <a:avLst>
              <a:gd name="adj1" fmla="val -57916"/>
              <a:gd name="adj2" fmla="val 9933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Another programmer starts contributing…</a:t>
            </a:r>
            <a:endParaRPr lang="en-US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5791200" y="2743200"/>
            <a:ext cx="1828800" cy="1066800"/>
          </a:xfrm>
          <a:prstGeom prst="wedgeRoundRectCallout">
            <a:avLst>
              <a:gd name="adj1" fmla="val -83750"/>
              <a:gd name="adj2" fmla="val 10423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Then a </a:t>
            </a:r>
            <a:r>
              <a:rPr lang="en-US" b="1" dirty="0" smtClean="0"/>
              <a:t>champion </a:t>
            </a:r>
            <a:r>
              <a:rPr lang="en-US" dirty="0" smtClean="0"/>
              <a:t>emerges!</a:t>
            </a:r>
            <a:endParaRPr lang="en-US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7010400" y="4038600"/>
            <a:ext cx="1828800" cy="1066800"/>
          </a:xfrm>
          <a:prstGeom prst="wedgeRoundRectCallout">
            <a:avLst>
              <a:gd name="adj1" fmla="val -102917"/>
              <a:gd name="adj2" fmla="val 66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Then others follow.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2895600" y="4800600"/>
            <a:ext cx="1828800" cy="1066800"/>
          </a:xfrm>
          <a:prstGeom prst="wedgeRoundRectCallout">
            <a:avLst>
              <a:gd name="adj1" fmla="val 78333"/>
              <a:gd name="adj2" fmla="val -321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champion even </a:t>
            </a:r>
            <a:r>
              <a:rPr lang="en-US" i="1" dirty="0" smtClean="0"/>
              <a:t>migrates </a:t>
            </a:r>
            <a:r>
              <a:rPr lang="en-US" dirty="0" smtClean="0"/>
              <a:t>old code.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85975" y="1781175"/>
            <a:ext cx="497205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475038" y="1524000"/>
            <a:ext cx="16200438" cy="383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3124200" y="2514600"/>
            <a:ext cx="7008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accent2"/>
                </a:solidFill>
                <a:latin typeface="Kartika" pitchFamily="18" charset="0"/>
                <a:cs typeface="Kartika" pitchFamily="18" charset="0"/>
              </a:rPr>
              <a:t>(C)</a:t>
            </a:r>
            <a:endParaRPr lang="en-US" sz="2800" dirty="0">
              <a:solidFill>
                <a:schemeClr val="accent2"/>
              </a:solidFill>
              <a:latin typeface="Kartika" pitchFamily="18" charset="0"/>
              <a:cs typeface="Kartika" pitchFamily="18" charset="0"/>
            </a:endParaRPr>
          </a:p>
        </p:txBody>
      </p:sp>
      <p:pic>
        <p:nvPicPr>
          <p:cNvPr id="71689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33600" y="3886200"/>
            <a:ext cx="4905375" cy="79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4953000" y="3962400"/>
            <a:ext cx="8659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accent5"/>
                </a:solidFill>
                <a:latin typeface="Kartika" pitchFamily="18" charset="0"/>
                <a:cs typeface="Kartika" pitchFamily="18" charset="0"/>
              </a:rPr>
              <a:t>&lt;P&gt;</a:t>
            </a:r>
            <a:endParaRPr lang="en-US" sz="2800" dirty="0">
              <a:solidFill>
                <a:schemeClr val="accent5"/>
              </a:solidFill>
              <a:latin typeface="Kartika" pitchFamily="18" charset="0"/>
              <a:cs typeface="Kartika" pitchFamily="18" charset="0"/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4495800" y="1981200"/>
            <a:ext cx="2667000" cy="762000"/>
          </a:xfrm>
          <a:prstGeom prst="wedgeRoundRectCallout">
            <a:avLst>
              <a:gd name="adj1" fmla="val -67856"/>
              <a:gd name="adj2" fmla="val 7424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smtClean="0"/>
              <a:t>Casts (normalized) should </a:t>
            </a:r>
            <a:r>
              <a:rPr lang="en-US" i="1" dirty="0" smtClean="0"/>
              <a:t>decrease </a:t>
            </a:r>
            <a:r>
              <a:rPr lang="en-US" dirty="0" smtClean="0"/>
              <a:t>with generics</a:t>
            </a:r>
            <a:r>
              <a:rPr lang="en-US" i="1" dirty="0" smtClean="0"/>
              <a:t>.</a:t>
            </a:r>
            <a:endParaRPr lang="en-US" i="1" dirty="0"/>
          </a:p>
        </p:txBody>
      </p:sp>
      <p:sp>
        <p:nvSpPr>
          <p:cNvPr id="16" name="TextBox 15"/>
          <p:cNvSpPr txBox="1"/>
          <p:nvPr/>
        </p:nvSpPr>
        <p:spPr>
          <a:xfrm>
            <a:off x="4419600" y="1524000"/>
            <a:ext cx="599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jEdit</a:t>
            </a:r>
            <a:endParaRPr lang="en-US" dirty="0"/>
          </a:p>
        </p:txBody>
      </p:sp>
      <p:sp>
        <p:nvSpPr>
          <p:cNvPr id="17" name="Rounded Rectangular Callout 16"/>
          <p:cNvSpPr/>
          <p:nvPr/>
        </p:nvSpPr>
        <p:spPr>
          <a:xfrm>
            <a:off x="1371600" y="3505200"/>
            <a:ext cx="2667000" cy="762000"/>
          </a:xfrm>
          <a:prstGeom prst="wedgeRoundRectCallout">
            <a:avLst>
              <a:gd name="adj1" fmla="val 96788"/>
              <a:gd name="adj2" fmla="val 8174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smtClean="0"/>
              <a:t>We found no correlation</a:t>
            </a:r>
            <a:r>
              <a:rPr lang="en-US" i="1" dirty="0" smtClean="0"/>
              <a:t> </a:t>
            </a:r>
            <a:r>
              <a:rPr lang="en-US" dirty="0" smtClean="0"/>
              <a:t>for </a:t>
            </a:r>
            <a:r>
              <a:rPr lang="en-US" dirty="0" err="1" smtClean="0"/>
              <a:t>jEdit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7" grpId="0" animBg="1"/>
      <p:bldP spid="1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-2362200" y="1600200"/>
            <a:ext cx="8100219" cy="1917700"/>
            <a:chOff x="-3475038" y="1524000"/>
            <a:chExt cx="16200438" cy="3835400"/>
          </a:xfrm>
        </p:grpSpPr>
        <p:pic>
          <p:nvPicPr>
            <p:cNvPr id="71685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-3475038" y="1524000"/>
              <a:ext cx="16200438" cy="383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13" name="Group 12"/>
            <p:cNvGrpSpPr/>
            <p:nvPr/>
          </p:nvGrpSpPr>
          <p:grpSpPr>
            <a:xfrm>
              <a:off x="2085975" y="1524000"/>
              <a:ext cx="4972050" cy="3552825"/>
              <a:chOff x="2085975" y="1524000"/>
              <a:chExt cx="4972050" cy="3552825"/>
            </a:xfrm>
          </p:grpSpPr>
          <p:pic>
            <p:nvPicPr>
              <p:cNvPr id="71682" name="Picture 2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85975" y="1781176"/>
                <a:ext cx="4972050" cy="32956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1" name="Rectangle 10"/>
              <p:cNvSpPr/>
              <p:nvPr/>
            </p:nvSpPr>
            <p:spPr>
              <a:xfrm>
                <a:off x="2620961" y="2133600"/>
                <a:ext cx="7008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 smtClean="0">
                    <a:solidFill>
                      <a:schemeClr val="accent2"/>
                    </a:solidFill>
                    <a:latin typeface="Kartika" pitchFamily="18" charset="0"/>
                    <a:cs typeface="Kartika" pitchFamily="18" charset="0"/>
                  </a:rPr>
                  <a:t>(C)</a:t>
                </a:r>
                <a:endParaRPr lang="en-US" sz="2800" dirty="0">
                  <a:solidFill>
                    <a:schemeClr val="accent2"/>
                  </a:solidFill>
                  <a:latin typeface="Kartika" pitchFamily="18" charset="0"/>
                  <a:cs typeface="Kartika" pitchFamily="18" charset="0"/>
                </a:endParaRPr>
              </a:p>
            </p:txBody>
          </p:sp>
          <p:pic>
            <p:nvPicPr>
              <p:cNvPr id="71689" name="Picture 9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133600" y="3886200"/>
                <a:ext cx="4905375" cy="7985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2" name="Rectangle 11"/>
              <p:cNvSpPr/>
              <p:nvPr/>
            </p:nvSpPr>
            <p:spPr>
              <a:xfrm>
                <a:off x="4449761" y="3657599"/>
                <a:ext cx="86594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 smtClean="0">
                    <a:solidFill>
                      <a:schemeClr val="accent5"/>
                    </a:solidFill>
                    <a:latin typeface="Kartika" pitchFamily="18" charset="0"/>
                    <a:cs typeface="Kartika" pitchFamily="18" charset="0"/>
                  </a:rPr>
                  <a:t>&lt;P&gt;</a:t>
                </a:r>
                <a:endParaRPr lang="en-US" sz="2800" dirty="0">
                  <a:solidFill>
                    <a:schemeClr val="accent5"/>
                  </a:solidFill>
                  <a:latin typeface="Kartika" pitchFamily="18" charset="0"/>
                  <a:cs typeface="Kartika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419600" y="1524000"/>
                <a:ext cx="5996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jEdit</a:t>
                </a:r>
                <a:endParaRPr lang="en-US" dirty="0"/>
              </a:p>
            </p:txBody>
          </p:sp>
        </p:grpSp>
      </p:grpSp>
      <p:grpSp>
        <p:nvGrpSpPr>
          <p:cNvPr id="22" name="Group 21"/>
          <p:cNvGrpSpPr/>
          <p:nvPr/>
        </p:nvGrpSpPr>
        <p:grpSpPr>
          <a:xfrm>
            <a:off x="-8077200" y="1828800"/>
            <a:ext cx="16200438" cy="3894137"/>
            <a:chOff x="-8077200" y="1828800"/>
            <a:chExt cx="16200438" cy="3894137"/>
          </a:xfrm>
        </p:grpSpPr>
        <p:pic>
          <p:nvPicPr>
            <p:cNvPr id="72710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124200" y="2438400"/>
              <a:ext cx="4983163" cy="3284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2706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-8077200" y="1828800"/>
              <a:ext cx="16200438" cy="383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2709" name="Picture 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962400" y="4378325"/>
              <a:ext cx="4005263" cy="955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9" name="TextBox 18"/>
            <p:cNvSpPr txBox="1"/>
            <p:nvPr/>
          </p:nvSpPr>
          <p:spPr>
            <a:xfrm>
              <a:off x="5181600" y="1981200"/>
              <a:ext cx="1342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Squirrel-SQL</a:t>
              </a:r>
              <a:endParaRPr lang="en-US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962400" y="3124200"/>
              <a:ext cx="70083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>
                  <a:solidFill>
                    <a:schemeClr val="accent2"/>
                  </a:solidFill>
                  <a:latin typeface="Kartika" pitchFamily="18" charset="0"/>
                  <a:cs typeface="Kartika" pitchFamily="18" charset="0"/>
                </a:rPr>
                <a:t>(C)</a:t>
              </a:r>
              <a:endParaRPr lang="en-US" sz="2800" dirty="0">
                <a:solidFill>
                  <a:schemeClr val="accent2"/>
                </a:solidFill>
                <a:latin typeface="Kartika" pitchFamily="18" charset="0"/>
                <a:cs typeface="Kartika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34200" y="4724400"/>
              <a:ext cx="86594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>
                  <a:solidFill>
                    <a:schemeClr val="accent5"/>
                  </a:solidFill>
                  <a:latin typeface="Kartika" pitchFamily="18" charset="0"/>
                  <a:cs typeface="Kartika" pitchFamily="18" charset="0"/>
                </a:rPr>
                <a:t>&lt;P&gt;</a:t>
              </a:r>
              <a:endParaRPr lang="en-US" sz="2800" dirty="0">
                <a:solidFill>
                  <a:schemeClr val="accent5"/>
                </a:solidFill>
                <a:latin typeface="Kartika" pitchFamily="18" charset="0"/>
                <a:cs typeface="Kartika" pitchFamily="18" charset="0"/>
              </a:endParaRPr>
            </a:p>
          </p:txBody>
        </p:sp>
      </p:grpSp>
      <p:sp>
        <p:nvSpPr>
          <p:cNvPr id="23" name="Rounded Rectangular Callout 22"/>
          <p:cNvSpPr/>
          <p:nvPr/>
        </p:nvSpPr>
        <p:spPr>
          <a:xfrm>
            <a:off x="3810000" y="3886200"/>
            <a:ext cx="2057400" cy="1066800"/>
          </a:xfrm>
          <a:prstGeom prst="wedgeRoundRectCallout">
            <a:avLst>
              <a:gd name="adj1" fmla="val 98640"/>
              <a:gd name="adj2" fmla="val -664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smtClean="0"/>
              <a:t>We found a </a:t>
            </a:r>
            <a:r>
              <a:rPr lang="en-US" b="1" dirty="0" smtClean="0"/>
              <a:t>strong</a:t>
            </a:r>
            <a:r>
              <a:rPr lang="en-US" dirty="0" smtClean="0"/>
              <a:t> correlation</a:t>
            </a:r>
            <a:r>
              <a:rPr lang="en-US" i="1" dirty="0" smtClean="0"/>
              <a:t> </a:t>
            </a:r>
            <a:r>
              <a:rPr lang="en-US" dirty="0" smtClean="0"/>
              <a:t>for Squirrel-SQL</a:t>
            </a:r>
            <a:endParaRPr lang="en-US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13"/>
          <p:cNvGrpSpPr/>
          <p:nvPr/>
        </p:nvGrpSpPr>
        <p:grpSpPr>
          <a:xfrm>
            <a:off x="-2362200" y="1600200"/>
            <a:ext cx="8100219" cy="1917700"/>
            <a:chOff x="-3475038" y="1524000"/>
            <a:chExt cx="16200438" cy="3835400"/>
          </a:xfrm>
        </p:grpSpPr>
        <p:pic>
          <p:nvPicPr>
            <p:cNvPr id="71685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-3475038" y="1524000"/>
              <a:ext cx="16200438" cy="383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4" name="Group 12"/>
            <p:cNvGrpSpPr/>
            <p:nvPr/>
          </p:nvGrpSpPr>
          <p:grpSpPr>
            <a:xfrm>
              <a:off x="2085975" y="1524000"/>
              <a:ext cx="4972050" cy="3552825"/>
              <a:chOff x="2085975" y="1524000"/>
              <a:chExt cx="4972050" cy="3552825"/>
            </a:xfrm>
          </p:grpSpPr>
          <p:pic>
            <p:nvPicPr>
              <p:cNvPr id="71682" name="Picture 2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85975" y="1781176"/>
                <a:ext cx="4972050" cy="32956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1" name="Rectangle 10"/>
              <p:cNvSpPr/>
              <p:nvPr/>
            </p:nvSpPr>
            <p:spPr>
              <a:xfrm>
                <a:off x="2620961" y="2133600"/>
                <a:ext cx="7008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 smtClean="0">
                    <a:solidFill>
                      <a:schemeClr val="accent2"/>
                    </a:solidFill>
                    <a:latin typeface="Kartika" pitchFamily="18" charset="0"/>
                    <a:cs typeface="Kartika" pitchFamily="18" charset="0"/>
                  </a:rPr>
                  <a:t>(C)</a:t>
                </a:r>
                <a:endParaRPr lang="en-US" sz="2800" dirty="0">
                  <a:solidFill>
                    <a:schemeClr val="accent2"/>
                  </a:solidFill>
                  <a:latin typeface="Kartika" pitchFamily="18" charset="0"/>
                  <a:cs typeface="Kartika" pitchFamily="18" charset="0"/>
                </a:endParaRPr>
              </a:p>
            </p:txBody>
          </p:sp>
          <p:pic>
            <p:nvPicPr>
              <p:cNvPr id="71689" name="Picture 9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133600" y="3886200"/>
                <a:ext cx="4905375" cy="7985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2" name="Rectangle 11"/>
              <p:cNvSpPr/>
              <p:nvPr/>
            </p:nvSpPr>
            <p:spPr>
              <a:xfrm>
                <a:off x="4449761" y="3657599"/>
                <a:ext cx="86594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 smtClean="0">
                    <a:solidFill>
                      <a:schemeClr val="accent5"/>
                    </a:solidFill>
                    <a:latin typeface="Kartika" pitchFamily="18" charset="0"/>
                    <a:cs typeface="Kartika" pitchFamily="18" charset="0"/>
                  </a:rPr>
                  <a:t>&lt;P&gt;</a:t>
                </a:r>
                <a:endParaRPr lang="en-US" sz="2800" dirty="0">
                  <a:solidFill>
                    <a:schemeClr val="accent5"/>
                  </a:solidFill>
                  <a:latin typeface="Kartika" pitchFamily="18" charset="0"/>
                  <a:cs typeface="Kartika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419600" y="1524000"/>
                <a:ext cx="5996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jEdit</a:t>
                </a:r>
                <a:endParaRPr lang="en-US" dirty="0"/>
              </a:p>
            </p:txBody>
          </p:sp>
        </p:grpSp>
      </p:grpSp>
      <p:grpSp>
        <p:nvGrpSpPr>
          <p:cNvPr id="5" name="Group 21"/>
          <p:cNvGrpSpPr/>
          <p:nvPr/>
        </p:nvGrpSpPr>
        <p:grpSpPr>
          <a:xfrm>
            <a:off x="-2286000" y="1447800"/>
            <a:ext cx="8100219" cy="1947069"/>
            <a:chOff x="-8077200" y="1828800"/>
            <a:chExt cx="16200438" cy="3894137"/>
          </a:xfrm>
        </p:grpSpPr>
        <p:pic>
          <p:nvPicPr>
            <p:cNvPr id="72710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124200" y="2438400"/>
              <a:ext cx="4983163" cy="3284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2706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-8077200" y="1828800"/>
              <a:ext cx="16200438" cy="383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2709" name="Picture 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962400" y="4378325"/>
              <a:ext cx="4005263" cy="955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9" name="TextBox 18"/>
            <p:cNvSpPr txBox="1"/>
            <p:nvPr/>
          </p:nvSpPr>
          <p:spPr>
            <a:xfrm>
              <a:off x="4724400" y="1981200"/>
              <a:ext cx="13422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Squirrel-SQL</a:t>
              </a:r>
              <a:endParaRPr lang="en-US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962400" y="3200400"/>
              <a:ext cx="70083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>
                  <a:solidFill>
                    <a:schemeClr val="accent2"/>
                  </a:solidFill>
                  <a:latin typeface="Kartika" pitchFamily="18" charset="0"/>
                  <a:cs typeface="Kartika" pitchFamily="18" charset="0"/>
                </a:rPr>
                <a:t>(C)</a:t>
              </a:r>
              <a:endParaRPr lang="en-US" sz="2800" dirty="0">
                <a:solidFill>
                  <a:schemeClr val="accent2"/>
                </a:solidFill>
                <a:latin typeface="Kartika" pitchFamily="18" charset="0"/>
                <a:cs typeface="Kartika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705600" y="4571999"/>
              <a:ext cx="86594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>
                  <a:solidFill>
                    <a:schemeClr val="accent5"/>
                  </a:solidFill>
                  <a:latin typeface="Kartika" pitchFamily="18" charset="0"/>
                  <a:cs typeface="Kartika" pitchFamily="18" charset="0"/>
                </a:rPr>
                <a:t>&lt;P&gt;</a:t>
              </a:r>
              <a:endParaRPr lang="en-US" sz="2800" dirty="0">
                <a:solidFill>
                  <a:schemeClr val="accent5"/>
                </a:solidFill>
                <a:latin typeface="Kartika" pitchFamily="18" charset="0"/>
                <a:cs typeface="Kartika" pitchFamily="18" charset="0"/>
              </a:endParaRPr>
            </a:p>
          </p:txBody>
        </p:sp>
      </p:grpSp>
      <p:sp>
        <p:nvSpPr>
          <p:cNvPr id="22" name="Rounded Rectangular Callout 21"/>
          <p:cNvSpPr/>
          <p:nvPr/>
        </p:nvSpPr>
        <p:spPr>
          <a:xfrm>
            <a:off x="2057400" y="3886200"/>
            <a:ext cx="3657600" cy="1295400"/>
          </a:xfrm>
          <a:prstGeom prst="wedgeRoundRectCallout">
            <a:avLst>
              <a:gd name="adj1" fmla="val -15050"/>
              <a:gd name="adj2" fmla="val -8311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1"/>
            <a:r>
              <a:rPr lang="en-US" dirty="0" smtClean="0"/>
              <a:t>But, </a:t>
            </a:r>
            <a:r>
              <a:rPr lang="en-US" b="1" dirty="0" smtClean="0"/>
              <a:t>overall,</a:t>
            </a:r>
            <a:r>
              <a:rPr lang="en-US" dirty="0" smtClean="0"/>
              <a:t> only Squirrel-SQL </a:t>
            </a:r>
            <a:r>
              <a:rPr lang="en-US" dirty="0" smtClean="0"/>
              <a:t>had a strong </a:t>
            </a:r>
            <a:r>
              <a:rPr lang="en-US" dirty="0" smtClean="0"/>
              <a:t>correlation, and </a:t>
            </a:r>
            <a:endParaRPr lang="en-US" dirty="0" smtClean="0"/>
          </a:p>
          <a:p>
            <a:pPr lvl="1"/>
            <a:r>
              <a:rPr lang="en-US" dirty="0" smtClean="0"/>
              <a:t>6 with moderate correlation.</a:t>
            </a:r>
            <a:endParaRPr lang="en-US" dirty="0" smtClean="0"/>
          </a:p>
        </p:txBody>
      </p:sp>
      <p:sp>
        <p:nvSpPr>
          <p:cNvPr id="25" name="Rounded Rectangular Callout 24"/>
          <p:cNvSpPr/>
          <p:nvPr/>
        </p:nvSpPr>
        <p:spPr>
          <a:xfrm>
            <a:off x="6019800" y="1905000"/>
            <a:ext cx="2743200" cy="1066800"/>
          </a:xfrm>
          <a:prstGeom prst="wedgeRoundRectCallout">
            <a:avLst>
              <a:gd name="adj1" fmla="val -88922"/>
              <a:gd name="adj2" fmla="val -3238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smtClean="0"/>
              <a:t>Casts reduced </a:t>
            </a:r>
            <a:r>
              <a:rPr lang="en-US" b="1" i="1" dirty="0" smtClean="0"/>
              <a:t>before</a:t>
            </a:r>
            <a:r>
              <a:rPr lang="en-US" dirty="0" smtClean="0"/>
              <a:t> developers start to introduce generics.</a:t>
            </a:r>
            <a:endParaRPr lang="en-US" dirty="0" smtClean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5" grpId="0" animBg="1"/>
      <p:bldP spid="25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Very little refactoring to generics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Half of generics instantiated with just one type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Generics support modest reductions in duplication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90% of generic usage is </a:t>
            </a:r>
            <a:r>
              <a:rPr lang="en-US" sz="2600" dirty="0" err="1" smtClean="0">
                <a:latin typeface="Consolas" pitchFamily="49" charset="0"/>
                <a:cs typeface="Consolas" pitchFamily="49" charset="0"/>
              </a:rPr>
              <a:t>java.util</a:t>
            </a:r>
            <a:r>
              <a:rPr lang="en-US" dirty="0" smtClean="0"/>
              <a:t> collections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IDE support has little relation to generic adoption date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Generic methods </a:t>
            </a:r>
            <a:r>
              <a:rPr lang="en-US" dirty="0" smtClean="0"/>
              <a:t>are rare!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8811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72" name="Picture 20" descr="http://sourceblogger.com/wp-content/uploads/2011/03/Approved_Red_Stam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400" y="304800"/>
            <a:ext cx="1837765" cy="104140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Modest Proposal</a:t>
            </a:r>
            <a:endParaRPr lang="en-US" dirty="0"/>
          </a:p>
        </p:txBody>
      </p:sp>
      <p:grpSp>
        <p:nvGrpSpPr>
          <p:cNvPr id="36" name="Group 35"/>
          <p:cNvGrpSpPr/>
          <p:nvPr/>
        </p:nvGrpSpPr>
        <p:grpSpPr>
          <a:xfrm>
            <a:off x="609600" y="1524000"/>
            <a:ext cx="2590800" cy="1512332"/>
            <a:chOff x="609600" y="1524000"/>
            <a:chExt cx="2590800" cy="1512332"/>
          </a:xfrm>
        </p:grpSpPr>
        <p:pic>
          <p:nvPicPr>
            <p:cNvPr id="74759" name="Picture 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9600" y="1524000"/>
              <a:ext cx="2590800" cy="1132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TextBox 9"/>
            <p:cNvSpPr txBox="1"/>
            <p:nvPr/>
          </p:nvSpPr>
          <p:spPr>
            <a:xfrm>
              <a:off x="914400" y="2667000"/>
              <a:ext cx="1689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Regulates Drugs</a:t>
              </a:r>
              <a:endParaRPr lang="en-US" u="sng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486400" y="1447800"/>
            <a:ext cx="3270447" cy="1588532"/>
            <a:chOff x="5486400" y="1447800"/>
            <a:chExt cx="3270447" cy="1588532"/>
          </a:xfrm>
        </p:grpSpPr>
        <p:pic>
          <p:nvPicPr>
            <p:cNvPr id="74763" name="Picture 11" descr="http://69.42.73.15/netfu/tmp20020/coollogo_com-152743515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791200" y="1447800"/>
              <a:ext cx="2409825" cy="1323975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5486400" y="2667000"/>
              <a:ext cx="3270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Regulates Programming Features</a:t>
              </a:r>
              <a:endParaRPr lang="en-US" u="sng" dirty="0"/>
            </a:p>
          </p:txBody>
        </p:sp>
      </p:grpSp>
      <p:sp>
        <p:nvSpPr>
          <p:cNvPr id="14" name="Chevron 13"/>
          <p:cNvSpPr/>
          <p:nvPr/>
        </p:nvSpPr>
        <p:spPr>
          <a:xfrm>
            <a:off x="4239768" y="1905000"/>
            <a:ext cx="484632" cy="484632"/>
          </a:xfrm>
          <a:prstGeom prst="chevr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5410200" y="3352800"/>
            <a:ext cx="3402807" cy="1740932"/>
            <a:chOff x="5410200" y="3352800"/>
            <a:chExt cx="3402807" cy="1740932"/>
          </a:xfrm>
        </p:grpSpPr>
        <p:pic>
          <p:nvPicPr>
            <p:cNvPr id="74764" name="Picture 1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410200" y="3352800"/>
              <a:ext cx="3402807" cy="1282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Box 16"/>
            <p:cNvSpPr txBox="1"/>
            <p:nvPr/>
          </p:nvSpPr>
          <p:spPr>
            <a:xfrm>
              <a:off x="5715000" y="4724400"/>
              <a:ext cx="2808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Monitors Adverse Reactions</a:t>
              </a:r>
              <a:endParaRPr lang="en-US" u="sng" dirty="0"/>
            </a:p>
          </p:txBody>
        </p:sp>
      </p:grpSp>
      <p:sp>
        <p:nvSpPr>
          <p:cNvPr id="18" name="Chevron 17"/>
          <p:cNvSpPr/>
          <p:nvPr/>
        </p:nvSpPr>
        <p:spPr>
          <a:xfrm>
            <a:off x="4239768" y="3886200"/>
            <a:ext cx="484632" cy="484632"/>
          </a:xfrm>
          <a:prstGeom prst="chevr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4766" name="Picture 14" descr="http://benefitsofhoneyblog.com/wp-content/uploads/2011/04/bee_sting_allergic_reaction2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448800" y="3276600"/>
            <a:ext cx="1828800" cy="1371600"/>
          </a:xfrm>
          <a:prstGeom prst="rect">
            <a:avLst/>
          </a:prstGeom>
          <a:noFill/>
        </p:spPr>
      </p:pic>
      <p:sp>
        <p:nvSpPr>
          <p:cNvPr id="22" name="Chevron 21"/>
          <p:cNvSpPr/>
          <p:nvPr/>
        </p:nvSpPr>
        <p:spPr>
          <a:xfrm>
            <a:off x="4239768" y="5562600"/>
            <a:ext cx="484632" cy="484632"/>
          </a:xfrm>
          <a:prstGeom prst="chevr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33400" y="5486400"/>
            <a:ext cx="3382529" cy="1371600"/>
            <a:chOff x="533400" y="5486400"/>
            <a:chExt cx="3382529" cy="1371600"/>
          </a:xfrm>
        </p:grpSpPr>
        <p:sp>
          <p:nvSpPr>
            <p:cNvPr id="24" name="TextBox 23"/>
            <p:cNvSpPr txBox="1"/>
            <p:nvPr/>
          </p:nvSpPr>
          <p:spPr>
            <a:xfrm>
              <a:off x="533400" y="6488668"/>
              <a:ext cx="3382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Measures treatment effectiveness</a:t>
              </a:r>
              <a:endParaRPr lang="en-US" u="sng" dirty="0" smtClean="0"/>
            </a:p>
          </p:txBody>
        </p:sp>
        <p:pic>
          <p:nvPicPr>
            <p:cNvPr id="74768" name="Picture 16" descr="http://images2.wikia.nocookie.net/__cb20090210131612/fallout/images/archive/7/71/20090210131715!Thumbs-up.jp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447800" y="5486400"/>
              <a:ext cx="1219200" cy="1141046"/>
            </a:xfrm>
            <a:prstGeom prst="rect">
              <a:avLst/>
            </a:prstGeom>
            <a:noFill/>
          </p:spPr>
        </p:pic>
      </p:grpSp>
      <p:grpSp>
        <p:nvGrpSpPr>
          <p:cNvPr id="30" name="Group 29"/>
          <p:cNvGrpSpPr/>
          <p:nvPr/>
        </p:nvGrpSpPr>
        <p:grpSpPr>
          <a:xfrm>
            <a:off x="762000" y="3505200"/>
            <a:ext cx="2745688" cy="1588532"/>
            <a:chOff x="762000" y="3505200"/>
            <a:chExt cx="2745688" cy="1588532"/>
          </a:xfrm>
        </p:grpSpPr>
        <p:sp>
          <p:nvSpPr>
            <p:cNvPr id="19" name="TextBox 18"/>
            <p:cNvSpPr txBox="1"/>
            <p:nvPr/>
          </p:nvSpPr>
          <p:spPr>
            <a:xfrm>
              <a:off x="762000" y="4724400"/>
              <a:ext cx="27456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Monitors Allergic Reactions</a:t>
              </a:r>
              <a:endParaRPr lang="en-US" u="sng" dirty="0"/>
            </a:p>
          </p:txBody>
        </p:sp>
        <p:pic>
          <p:nvPicPr>
            <p:cNvPr id="74770" name="Picture 18" descr="http://images-mediawiki-sites.thefullwiki.org/11/3/8/0/96638433370772016.gif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295400" y="3505200"/>
              <a:ext cx="1181100" cy="1209676"/>
            </a:xfrm>
            <a:prstGeom prst="rect">
              <a:avLst/>
            </a:prstGeom>
            <a:noFill/>
          </p:spPr>
        </p:pic>
      </p:grpSp>
      <p:grpSp>
        <p:nvGrpSpPr>
          <p:cNvPr id="35" name="Group 34"/>
          <p:cNvGrpSpPr/>
          <p:nvPr/>
        </p:nvGrpSpPr>
        <p:grpSpPr>
          <a:xfrm>
            <a:off x="5257800" y="5105400"/>
            <a:ext cx="3708131" cy="1752600"/>
            <a:chOff x="5257800" y="5105400"/>
            <a:chExt cx="3708131" cy="1752600"/>
          </a:xfrm>
        </p:grpSpPr>
        <p:sp>
          <p:nvSpPr>
            <p:cNvPr id="23" name="TextBox 22"/>
            <p:cNvSpPr txBox="1"/>
            <p:nvPr/>
          </p:nvSpPr>
          <p:spPr>
            <a:xfrm>
              <a:off x="5257800" y="6488668"/>
              <a:ext cx="3708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 smtClean="0"/>
                <a:t>Measures impact and migration costs</a:t>
              </a:r>
              <a:endParaRPr lang="en-US" u="sng" dirty="0" smtClean="0"/>
            </a:p>
          </p:txBody>
        </p:sp>
        <p:pic>
          <p:nvPicPr>
            <p:cNvPr id="74776" name="Picture 24" descr="your official seal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6172200" y="5105400"/>
              <a:ext cx="1927578" cy="1486989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xmlns="" val="124361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Prescription and Reactions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Language features are like drugs: </a:t>
            </a:r>
          </a:p>
          <a:p>
            <a:pPr lvl="1"/>
            <a:r>
              <a:rPr lang="en-US" dirty="0" smtClean="0"/>
              <a:t>Both are prescribed as remedies to common problems.</a:t>
            </a:r>
          </a:p>
          <a:p>
            <a:endParaRPr lang="en-US" dirty="0"/>
          </a:p>
          <a:p>
            <a:r>
              <a:rPr lang="en-US" dirty="0" smtClean="0"/>
              <a:t>Do we check for adverse/allergic reactions?</a:t>
            </a:r>
          </a:p>
          <a:p>
            <a:endParaRPr lang="en-US" dirty="0"/>
          </a:p>
          <a:p>
            <a:r>
              <a:rPr lang="en-US" dirty="0" smtClean="0"/>
              <a:t>Did we cure anything?  Population success rates?</a:t>
            </a:r>
            <a:endParaRPr lang="en-US" dirty="0"/>
          </a:p>
        </p:txBody>
      </p:sp>
      <p:pic>
        <p:nvPicPr>
          <p:cNvPr id="3074" name="Picture 2" descr="http://www.batonrougetoday.com/wp-content/uploads/2011/04/louisiana-state-police-prescription-drug-take-back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439920"/>
            <a:ext cx="3429000" cy="22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2436185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Adoption dynamics</a:t>
            </a:r>
            <a:endParaRPr lang="en-US" dirty="0"/>
          </a:p>
        </p:txBody>
      </p:sp>
      <p:sp>
        <p:nvSpPr>
          <p:cNvPr id="4" name="Flowchart: Off-page Connector 3"/>
          <p:cNvSpPr/>
          <p:nvPr/>
        </p:nvSpPr>
        <p:spPr>
          <a:xfrm>
            <a:off x="381000" y="1447801"/>
            <a:ext cx="1219200" cy="1047690"/>
          </a:xfrm>
          <a:prstGeom prst="flowChartOffpageConnec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/>
              <a:t>Idea</a:t>
            </a:r>
          </a:p>
        </p:txBody>
      </p:sp>
      <p:sp>
        <p:nvSpPr>
          <p:cNvPr id="6" name="Flowchart: Off-page Connector 5"/>
          <p:cNvSpPr/>
          <p:nvPr/>
        </p:nvSpPr>
        <p:spPr>
          <a:xfrm>
            <a:off x="3657600" y="1447801"/>
            <a:ext cx="1219200" cy="1058576"/>
          </a:xfrm>
          <a:prstGeom prst="flowChartOffpageConnec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/>
              <a:t>Release</a:t>
            </a:r>
          </a:p>
        </p:txBody>
      </p:sp>
      <p:sp>
        <p:nvSpPr>
          <p:cNvPr id="7" name="Flowchart: Off-page Connector 6"/>
          <p:cNvSpPr/>
          <p:nvPr/>
        </p:nvSpPr>
        <p:spPr>
          <a:xfrm>
            <a:off x="5181600" y="1447800"/>
            <a:ext cx="1219200" cy="1062205"/>
          </a:xfrm>
          <a:prstGeom prst="flowChartOffpageConnec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/>
              <a:t>Support</a:t>
            </a:r>
          </a:p>
        </p:txBody>
      </p:sp>
      <p:sp>
        <p:nvSpPr>
          <p:cNvPr id="8" name="Flowchart: Off-page Connector 7"/>
          <p:cNvSpPr/>
          <p:nvPr/>
        </p:nvSpPr>
        <p:spPr>
          <a:xfrm>
            <a:off x="7315200" y="1447800"/>
            <a:ext cx="1219200" cy="1073091"/>
          </a:xfrm>
          <a:prstGeom prst="flowChartOffpageConnec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/>
              <a:t>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228" y="255433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1994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940828" y="259865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2004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464828" y="261797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2005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598428" y="258570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2008</a:t>
            </a:r>
            <a:endParaRPr lang="en-US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381000" y="2597091"/>
            <a:ext cx="861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28600" y="3505200"/>
            <a:ext cx="8763000" cy="2620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What adoption curves of other features?</a:t>
            </a:r>
          </a:p>
          <a:p>
            <a:endParaRPr lang="en-US" dirty="0"/>
          </a:p>
          <a:p>
            <a:r>
              <a:rPr lang="en-US" dirty="0" smtClean="0"/>
              <a:t>How do we support </a:t>
            </a:r>
            <a:r>
              <a:rPr lang="en-US" i="1" dirty="0" smtClean="0">
                <a:solidFill>
                  <a:schemeClr val="accent1"/>
                </a:solidFill>
              </a:rPr>
              <a:t>partial adoption</a:t>
            </a:r>
            <a:r>
              <a:rPr lang="en-US" i="1" dirty="0" smtClean="0"/>
              <a:t>, </a:t>
            </a:r>
            <a:r>
              <a:rPr lang="en-US" i="1" dirty="0" smtClean="0">
                <a:solidFill>
                  <a:schemeClr val="accent1"/>
                </a:solidFill>
              </a:rPr>
              <a:t>migration</a:t>
            </a:r>
            <a:r>
              <a:rPr lang="en-US" i="1" dirty="0" smtClean="0"/>
              <a:t>?</a:t>
            </a:r>
          </a:p>
          <a:p>
            <a:endParaRPr lang="en-US" i="1" dirty="0"/>
          </a:p>
          <a:p>
            <a:r>
              <a:rPr lang="en-US" dirty="0" smtClean="0"/>
              <a:t>How do developers measure impact, payoff?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1070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are the Champions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3375" y="1905000"/>
            <a:ext cx="847725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loud Callout 3"/>
          <p:cNvSpPr/>
          <p:nvPr/>
        </p:nvSpPr>
        <p:spPr>
          <a:xfrm>
            <a:off x="2819400" y="2362200"/>
            <a:ext cx="2286000" cy="1066800"/>
          </a:xfrm>
          <a:prstGeom prst="cloudCallout">
            <a:avLst>
              <a:gd name="adj1" fmla="val -82891"/>
              <a:gd name="adj2" fmla="val 509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Why am I the only one?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489915" y="3641324"/>
            <a:ext cx="1254511" cy="1904970"/>
            <a:chOff x="489915" y="3641324"/>
            <a:chExt cx="1254511" cy="1904970"/>
          </a:xfrm>
        </p:grpSpPr>
        <p:sp>
          <p:nvSpPr>
            <p:cNvPr id="5" name="Down Arrow 4"/>
            <p:cNvSpPr/>
            <p:nvPr/>
          </p:nvSpPr>
          <p:spPr>
            <a:xfrm rot="13454354">
              <a:off x="963732" y="3641324"/>
              <a:ext cx="381000" cy="51472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9915" y="4345965"/>
              <a:ext cx="125451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Youth?</a:t>
              </a:r>
            </a:p>
            <a:p>
              <a:r>
                <a:rPr lang="en-US" dirty="0" smtClean="0"/>
                <a:t>Seniority?</a:t>
              </a:r>
            </a:p>
            <a:p>
              <a:r>
                <a:rPr lang="en-US" dirty="0" smtClean="0"/>
                <a:t>Dare-devil?</a:t>
              </a:r>
            </a:p>
            <a:p>
              <a:endParaRPr lang="en-US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800600" y="4428300"/>
            <a:ext cx="3886199" cy="2701554"/>
            <a:chOff x="4800600" y="4428300"/>
            <a:chExt cx="3886199" cy="2701554"/>
          </a:xfrm>
        </p:grpSpPr>
        <p:sp>
          <p:nvSpPr>
            <p:cNvPr id="8" name="Down Arrow 7"/>
            <p:cNvSpPr/>
            <p:nvPr/>
          </p:nvSpPr>
          <p:spPr>
            <a:xfrm rot="9727513">
              <a:off x="5611932" y="4428300"/>
              <a:ext cx="381000" cy="51472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00600" y="5098529"/>
              <a:ext cx="3886199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How to spread?</a:t>
              </a:r>
            </a:p>
            <a:p>
              <a:endParaRPr lang="en-US" dirty="0"/>
            </a:p>
            <a:p>
              <a:r>
                <a:rPr lang="en-US" dirty="0" smtClean="0"/>
                <a:t>Peer learning?</a:t>
              </a:r>
            </a:p>
            <a:p>
              <a:endParaRPr lang="en-US" dirty="0" smtClean="0"/>
            </a:p>
            <a:p>
              <a:r>
                <a:rPr lang="en-US" dirty="0" smtClean="0"/>
                <a:t>Crowd documentation?</a:t>
              </a:r>
            </a:p>
            <a:p>
              <a:endParaRPr lang="en-US" dirty="0" smtClean="0"/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28408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Peek ahead: C# and </a:t>
            </a:r>
            <a:r>
              <a:rPr lang="en-US" dirty="0" smtClean="0"/>
              <a:t>Interviews/Inspections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3375" y="6287141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Donghoon</a:t>
            </a:r>
            <a:r>
              <a:rPr lang="en-US" b="1" dirty="0"/>
              <a:t> Kim</a:t>
            </a:r>
          </a:p>
        </p:txBody>
      </p:sp>
      <p:sp>
        <p:nvSpPr>
          <p:cNvPr id="5" name="AutoShape 2" descr="https://mail.google.com/mail/?ui=2&amp;ik=25431fe239&amp;view=att&amp;th=12fe97b8d5e6fd6f&amp;attid=0.1&amp;disp=inline&amp;realattid=f_gnn5auj40&amp;z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https://mail.google.com/mail/?ui=2&amp;ik=25431fe239&amp;view=att&amp;th=12fe97b8d5e6fd6f&amp;attid=0.1&amp;disp=inline&amp;realattid=f_gnn5auj40&amp;zw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029" y="1876104"/>
            <a:ext cx="5791200" cy="444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2687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233188" y="553750"/>
            <a:ext cx="8677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Do programmers migrate old code to use generics?</a:t>
            </a:r>
            <a:endParaRPr lang="en-US" sz="2000" dirty="0"/>
          </a:p>
        </p:txBody>
      </p:sp>
      <p:pic>
        <p:nvPicPr>
          <p:cNvPr id="6" name="Picture 2" descr="http://blog.ninlabs.com/wp-content/uploads/2011/03/Migra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66800"/>
            <a:ext cx="8839200" cy="3314701"/>
          </a:xfrm>
          <a:prstGeom prst="rect">
            <a:avLst/>
          </a:prstGeom>
          <a:noFill/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4572000"/>
            <a:ext cx="9144000" cy="2057400"/>
          </a:xfrm>
        </p:spPr>
        <p:txBody>
          <a:bodyPr>
            <a:normAutofit/>
          </a:bodyPr>
          <a:lstStyle/>
          <a:p>
            <a:r>
              <a:rPr lang="en-US" dirty="0" smtClean="0"/>
              <a:t>Only 3 out of 15 projects converted more than 12%.</a:t>
            </a:r>
          </a:p>
          <a:p>
            <a:r>
              <a:rPr lang="en-US" dirty="0" smtClean="0"/>
              <a:t>Of these 3, no project converted more than half.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713790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1418</Words>
  <Application>Microsoft Office PowerPoint</Application>
  <PresentationFormat>On-screen Show (4:3)</PresentationFormat>
  <Paragraphs>333</Paragraphs>
  <Slides>34</Slides>
  <Notes>23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Slide 1</vt:lpstr>
      <vt:lpstr>Generics – A simple feature?</vt:lpstr>
      <vt:lpstr>Quick primer</vt:lpstr>
      <vt:lpstr>Quick refresher</vt:lpstr>
      <vt:lpstr>Quick refresher</vt:lpstr>
      <vt:lpstr>Quick refresher</vt:lpstr>
      <vt:lpstr>but life is not so simple…</vt:lpstr>
      <vt:lpstr>Slide 8</vt:lpstr>
      <vt:lpstr>Slide 9</vt:lpstr>
      <vt:lpstr>Slide 10</vt:lpstr>
      <vt:lpstr>why are these people so angry?</vt:lpstr>
      <vt:lpstr>Slide 12</vt:lpstr>
      <vt:lpstr>Slide 13</vt:lpstr>
      <vt:lpstr>Slide 14</vt:lpstr>
      <vt:lpstr>Slide 15</vt:lpstr>
      <vt:lpstr>Slide 16</vt:lpstr>
      <vt:lpstr>Slide 17</vt:lpstr>
      <vt:lpstr>Study Setup</vt:lpstr>
      <vt:lpstr>Did programmers adopt and use generics?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Other findings</vt:lpstr>
      <vt:lpstr>A Modest Proposal</vt:lpstr>
      <vt:lpstr>Prescription and Reactions</vt:lpstr>
      <vt:lpstr>Adoption dynamics</vt:lpstr>
      <vt:lpstr>Who are the Champions</vt:lpstr>
      <vt:lpstr>Peek ahead: C# and Interviews/Inspections</vt:lpstr>
      <vt:lpstr>Do programmers migrate old code to use generics?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Prima</dc:creator>
  <cp:lastModifiedBy>Prima</cp:lastModifiedBy>
  <cp:revision>63</cp:revision>
  <dcterms:modified xsi:type="dcterms:W3CDTF">2011-05-20T07:42:45Z</dcterms:modified>
</cp:coreProperties>
</file>